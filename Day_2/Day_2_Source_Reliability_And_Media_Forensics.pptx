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9" r:id="rId40"/>
    <p:sldId id="285" r:id="rId36"/>
    <p:sldId id="288" r:id="rId39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1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720" y="548640"/>
            <a:ext cx="838200" cy="838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" y="1188720"/>
            <a:ext cx="80467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6B7280"/>
                </a:solidFill>
                <a:latin typeface="Arial"/>
              </a:rPr>
              <a:t>FORENSICS &amp; OSINT ADVANCED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804672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3600" b="1" i="0">
                <a:solidFill>
                  <a:srgbClr val="1F2937"/>
                </a:solidFill>
                <a:latin typeface="Arial"/>
              </a:rPr>
              <a:t>Day 2 — Source reliability &amp; media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97480"/>
            <a:ext cx="804672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800" b="0" i="1">
                <a:solidFill>
                  <a:srgbClr val="1E40AF"/>
                </a:solidFill>
                <a:latin typeface="Arial"/>
              </a:rPr>
              <a:t>Source reliability · Disinformation · Media forensics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109728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66160"/>
            <a:ext cx="80467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0" i="0">
                <a:solidFill>
                  <a:srgbClr val="6B7280"/>
                </a:solidFill>
                <a:latin typeface="Arial"/>
              </a:rPr>
              <a:t>Morning: theory in depth  —  Afternoon: hands-on 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86300"/>
            <a:ext cx="80467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Learning objectives — 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By the end of this day, participants will be able to: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Rate a source on both axes: reliability and credibility (Admiralty Code).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Trace a claim back to its first occurrence online.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Recognise the signatures of coordinated inauthentic behaviour (CIB).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Read what metadata does and does not prove.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Spot the signatures of synthetic media and deepfakes.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Verify a media's provenance with cryptographic credentials (C2PA).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Collect at scale and report clean: recursive scraping, API replay, dump analysis - every finding Admiralty-rated.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Running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Morning theory alternating with afternoon practice (min. 60% hands-on).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1800000"/>
        </p:xfrm>
        <a:graphic>
          <a:graphicData uri="http://schemas.openxmlformats.org/drawingml/2006/table">
            <a:tbl>
              <a:tblPr/>
              <a:tblGrid>
                <a:gridCol w="1600000"/>
                <a:gridCol w="49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Content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Source reliability &amp; Admiralty Code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Disinformation, fact-checking, CIB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Scraping &amp; collection: Email Harvester, API Scraping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Geosint + Data Breach, with Admiralty-rated notes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Source reliability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Two independent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NATO standard / Admiralty Code: rate the source and the information separately.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A →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history &amp; nature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of the source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independent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 source rated A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can carry info '5'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INFO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1 →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credibility of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content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RATING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We write "B2", "F6"… The two axes are orthogonal — never conflate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Admiralty Code — the two scales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0000"/>
          <a:ext cx="8229600" cy="2500000"/>
        </p:xfrm>
        <a:graphic>
          <a:graphicData uri="http://schemas.openxmlformats.org/drawingml/2006/table">
            <a:tbl>
              <a:tblPr/>
              <a:tblGrid>
                <a:gridCol w="1500000"/>
                <a:gridCol w="2700000"/>
                <a:gridCol w="1300000"/>
                <a:gridCol w="2729600"/>
              </a:tblGrid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(A–F)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Def.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Info (1–6)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Def.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Fully reliable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Confirmed elsewhere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Usually reliable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Probably true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Fairly good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Possibly true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Not usually reliable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Doubtful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Unreliable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Improbable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Undetermined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Undetermined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Evaluating an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Transparency, cited primary sources, absence of conflict of interest.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CRAAP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Currency — recency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Relevance — right fit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Authority — author's credentials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Accuracy — verifiable facts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Purpose — real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VALUE HIERARCHY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Primary (document, record, direct witness)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Secondary (analysis)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Tertiary (compilation)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→ go back to the primary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Cross-checking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Cross-checking is only valid if the sources are genuinely independent.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COLLECT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multiple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multi-source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multi-angle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to the primary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who said what?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who cites whom?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independence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sources really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independent?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CIRCULAR REPORTING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3 outlets citing the same anonymous post = 1 source, not 3 confirmations.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Provenance &amp;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Reference: Berkeley Protocol on Digital Open Source Investigations.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Document: where, when, how and by whom each item was collected.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Keep the exact URL + UTC collection timestamp.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Archive a copy (screenshot) and compute its SHA-256 hash.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Independent proof of archiving (timestamp service / Wayback).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Determines legal admissibility and guards against integrity challenges.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CONFIDENCE ≠ PROBABILITY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"70% probability, moderate confidence": two distinct dimensions of judgement (ICD 203).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Analytical tooling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0000"/>
          <a:ext cx="8229600" cy="2160000"/>
        </p:xfrm>
        <a:graphic>
          <a:graphicData uri="http://schemas.openxmlformats.org/drawingml/2006/table">
            <a:tbl>
              <a:tblPr/>
              <a:tblGrid>
                <a:gridCol w="1700000"/>
                <a:gridCol w="4100000"/>
                <a:gridCol w="24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Tools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Usage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Mapping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Maltego, i2, Gephi, NetworkX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Entity/relationship graph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Cases / inquiry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Aleph (OCCRP), Hunchly, TheHive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Capture &amp; sharing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ACH matrices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PARC ACH, Open-ACH, sheet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Hypothesis diagnostics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Timeline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Timesketch, Aeon Timeline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Timeline reconstruction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Preservation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Hunchly, hash + timestamp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Provenance / admissibility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Verifying disinformation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Typology (information disorder)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Three categories (Wardle's typology) — intent and veracity vary.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MIS-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no intent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false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honest mistake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DIS-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with intent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false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intent to harm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MAL-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true, out of context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real info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out of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CONSEQUENCE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response differs: correct an error, counter an operation, recontextualise a leak.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Fact-checking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Six reproducible steps.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Isolate the checkable claim (separate fact from opinion).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Trace to the primary source (cf. circular reporting, Seq. 1).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Authenticate associated media (sequence 1).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Cross-check against independent sources.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Contextualise: dates, places, full quotations.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Conclude: a graded, sourced verdict (true / misleading / false / unverifiable).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Coordinated inauthentic behaviour (CIB)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Modern disinformation is operationalised: networks of accounts.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Temporal synchronisation of posts (same minutes).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Near-duplicate content (copy-paste, slight variants).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Shell accounts: mass-created, little history, stolen/generic photos.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Artificial amplification: non-organic spikes, amplification networks.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Shared technical footprint: same shorteners, infra, time zones.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METHOD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Detecting CIB = network analysis (graph, seq. 1) + timing analysis + content similarity.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Narrative analysis &amp;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Beyond true/false: understanding the operation.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INFLUENCE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Which narrative is pushed?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Aimed at whom?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Via which channels?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Origin → relays → amplifiers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TOOLKIT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FotoForensics, Forensically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InVID/WeVerify, exiftool, ffprobe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Reverse: Google/Yandex/TinEye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Graph: Gephi / NetworkX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Today's cardinal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00000"/>
            <a:ext cx="8229600" cy="240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00000"/>
            <a:ext cx="73152" cy="24000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0000" y="1850000"/>
            <a:ext cx="7700000" cy="1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lnSpc>
                <a:spcPct val="115000"/>
              </a:lnSpc>
              <a:buNone/>
            </a:pPr>
            <a:r>
              <a:rPr sz="1500" b="0" i="1">
                <a:solidFill>
                  <a:srgbClr val="1F2937"/>
                </a:solidFill>
                <a:latin typeface="Arial"/>
              </a:rPr>
              <a:t>No single clue is conclusive. Metadata, signal, geo/chrono, provenance and cross-checking converge — or diverge. A media's truth is read in the WEIGHT OF EVIDENCE, never in a single 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850000"/>
            <a:ext cx="7700000" cy="2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— Weight-of-evidence verification methodology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Image &amp; video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~2h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An image no longer "proves" much by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We combine technical forensics and editorial verification.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Trivial editing + synthetic media → no intrinsic evidentiary value.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Each visual = evidence that must be AUTHENTICATED.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Four questions: is it authentic? where's it from? is it true? an influence operation?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VERIFICATION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Five questions: provenance · source · date · place · motivation (First Draft / Bellingcat).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Metadata: a first layer, handled with caution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Reference tool: exiftool.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EXIF (device, date, GPS), IPTC (caption/credit), XMP (editing, software).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Social media platforms STRIP most metadata → absence proves nothing.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They're trivially FORGEABLE → an EXIF date is a claim, not proof.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We look for INCONSISTENCIES: date &gt; upload, GPS ≠ place, undeclared software, mismatched thumbnail.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Metadata points the way; it doesn't conclude. Proof comes from CONVERGENCE.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Signal analysis: detecting manipulation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00" y="172592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00" y="200592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recompression + difference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edited areas stand out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indicator, not proof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2000" y="164592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2000" y="164592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52000" y="172592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JPEG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2000" y="200592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ghosts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misaligned 8×8 grid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quantisation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9296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9296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00" y="327296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PRNU / sensor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00" y="355296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sensor noise signature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local absence = insertion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2000" y="319296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92000" y="319296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52000" y="327296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Clone / splice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2000" y="355296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copy-move (correlation)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splicing (edges, noise)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Physical coherence: often more telling than the pixel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An inconsistent shadow betrays a montage better than pixel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Shadows: direction, hardness, converging on a single source.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Reflections: consistent (eyes, glass)?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Perspective &amp; vanishing points: plausible geometry?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Lighting: does the light tell a coherent story?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sun's position (SunCalc) links shadows, time and date: a tool for coherence AND chronolocation.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Synthetic media: deepfakes &amp;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Artefacts fade fast — detection ages quickly.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Types: face swap/reenactment, full synthesis (diffusion), cloned voice, lip-sync.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Visual artefacts: face boundaries, blinking, corneal reflections, odd hands.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Temporal artefacts (video): flicker, lip/audio desync, unstable cuts.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Frequency artefacts: GAN/diffusion signatures in the Fourier domain.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991B1B"/>
                </a:solidFill>
                <a:latin typeface="Arial"/>
              </a:rPr>
              <a:t>WARNING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Automated deepfake detectors are not robust. Never alone: provenance + cross-checking matter most.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Cryptographic provenance: C2PA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C2PA / Content Credentials: the structural answer to the authenticity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CAPTURE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signature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signed manifest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at capture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EDITING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every edit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logged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CHECK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Content Credentials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valid manifest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= strong indication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KEY POINT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Valid manifest = strong indication. Absence ≠ fake, but removes a safeguard. Check when available.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Geolocation &amp; chronolocation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Extract the clues, then correlate them with open references.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GEOLOCATE (WHERE?)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Clues: signs, language, plates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Architecture, vegetation, terrain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Correlate: satellite, Street View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Shadows → orientation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CHRONOLOCATE (WHEN?)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Sun position (SunCalc)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Seasonal / weather clues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Datable events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 time = claimed time?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The dominant lie: recontextualisation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The verifier's reflex #1.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It's often not a fake: a REAL image attributed to another place/time.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Reverse image: Google, Yandex (often superior), TinEye (precedence), Bing.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Finding the FIRST occurrence → debunks false attribution.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Video: extract keyframes, then reverse each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VIDEO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No reliable native video reverse search: split into keyframes (ffmpeg), search image by image.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Video forensics: key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Container, keyframes, cuts, audio/video coherence.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Container metadata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ffprobe clip.mp4 ; mediainfo clip.mp4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Extract keyframes (1 fps) for reverse + inspection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ffmpeg -i clip.mp4 -vf fps=1 frames/kf_%03d.png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Detect scene changes (cuts)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ffmpeg -i clip.mp4 -vf "select=gt(scene,0.4),showinfo" -f null -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Reference suite: InVID / WeVerify (browser extension)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INVID/WEVERIFY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Fragmentation, analysis loupe, built-in reverse, metadata reading, account verification.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HANDS-ON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Collection, verification,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Afternoon: 3h30 hands-on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Afternoon red thread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Four hands-on TPs. Collection techniques (Day 1 recall) applied with Day 2 rigour: sourcing, Admiralty, provenance.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2160000"/>
        </p:xfrm>
        <a:graphic>
          <a:graphicData uri="http://schemas.openxmlformats.org/drawingml/2006/table">
            <a:tbl>
              <a:tblPr/>
              <a:tblGrid>
                <a:gridCol w="1100000"/>
                <a:gridCol w="54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Hands-on TP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Email Harvester - recursive scraping (bash, curl, regex)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API Scraping - Burp interception + Python replay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75 min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Geosint - Operation Glass Eye (geolocation &amp; chronolocation)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Data Breach - leaked SQL dump, Python/pandas analysis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75 min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One sourced note per TP: findings + Admiralty rating + provenance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Email Harvester - recursive scraping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Fetch a page, extract e-mails with a regex, follow the links: build your own crawler.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Recursive e-mail harvester (bash + curl + regex)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EMAIL='[A-Za-z0-9._%+-]+@[A-Za-z0-9.-]+\.[A-Za-z]{2,}'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curl -sL "$URL" | grep -oE "$EMAIL" | sort -u        # e-mails on one page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./harvest.sh http://target/ 2                          # crawl depth 2 -&gt; emails.csv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curl has NO recursion flag: we build the crawl ourselves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(queue + visited set + same-domain filter + relative-link resolver)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CHEAT SHEETS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Reference: Linux basics + Bash scripting. Authorised targets only; respect robots.txt.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Geosint - Operation Glass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Geolocate a drone's last transmitted frame, then chronolocate it with the sun.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Chain of custody first (Seq. 1)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sha256sum last_frame.jpg ; exiftool -a -G1 last_frame.jpg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Enumerate candidates near the launch point (OpenStreetMap / Overpass)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curl -s https://overpass-api.de/api/interpreter --data-urlencode \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'data=[out:csv(::lat,::lon)];node["generator:source"="wind"](around:8000,47.5988,-1.1389);out;'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Chronolocate: shadow direction + sun position  -&gt; SunCalc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APPLIES - Seq.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Geolocation &amp; chronolocation. Rate every finding with the Admiralty scale.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Data Breach - dump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Load a leaked SQL dump locally, map its schema, quantify the exposure with Python.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Leaked SQL dump -&gt; local DB -&gt; READ-ONLY analysis (SQLAlchemy + pandas)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from sqlalchemy import create_engine; import pandas as pd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eng = create_engine("mysql+pymysql://user:pw@127.0.0.1:3306/leak")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pd.read_sql("SELECT COUNT(*) FROM information_schema.tables "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          "WHERE table_schema=DATABASE()", eng)      # map the schema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df = pd.read_sql("SELECT email, created FROM users", eng)  # extract &amp; aggregate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df.to_csv("exposure.csv", index=False)                 # export (anonymised)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GDPR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Read-only. Anonymise output, never re-identify. Assess and report the exposure.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Deliverable: sourced note (Admiralty)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 structured, sourced, auditable note - one per TP.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finding, with its Admiralty rating (source A-F x information 1-6).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Provenance: source URL, UTC timestamp, SHA-256 of every captured artefact (Day 1 discipline).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Reproducible: an auditor should reach the same conclusion from your note.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clear, graded conclusion - confirmed / probable / possible / unverifiable.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Day 2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End-of-day quiz to follow.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visual has no evidentiary value by default: it must be authenticated.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Chain: provenance, source, date, place, motivation.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Metadata and ELA point the way; reason by convergence.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Deepfakes: prioritise provenance (C2PA) and cross-checking.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dominant lie is recontextualisation → reverse image.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Disinformation: isolate, source, detect CIB through network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5803D"/>
                </a:solidFill>
                <a:latin typeface="Arial"/>
              </a:rPr>
              <a:t>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Day 3 — Dark web, crypto tracing &amp; endpoint forensics (memory analysis).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API Scraping - intercept &amp; replay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Capture the real session in Burp, find the product/stock endpoint, then scale it in Python.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1) Burp: browse the site, find the product endpoint in HTTP history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2) read its request: params (pagination), Authorization: Bearer, cookies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3) replay &amp; paginate it in Python (requests)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s = requests.Session(); s.headers["Authorization"] = f"Bearer {token}"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while start &lt; total: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  hits += s.get(url, params={"c_start": start, "c_sz": 48}).json()["hits"]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  start += 48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pd.json_normalize(hits).to_csv("products.csv", index=False)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Burp to capture, Python to scale. Same steps for an API found via Shodan (authorised only).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