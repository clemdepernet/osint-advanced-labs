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8" r:id="rId39"/>
    <p:sldId id="286" r:id="rId37"/>
    <p:sldId id="287" r:id="rId3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5720" y="548640"/>
            <a:ext cx="838200" cy="838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1188720"/>
            <a:ext cx="80467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200" b="1" i="0">
                <a:solidFill>
                  <a:srgbClr val="6B7280"/>
                </a:solidFill>
                <a:latin typeface="Arial"/>
              </a:rPr>
              <a:t>FORENSICS &amp; OSINT ADVANCED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804672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3600" b="1" i="0">
                <a:solidFill>
                  <a:srgbClr val="1F2937"/>
                </a:solidFill>
                <a:latin typeface="Arial"/>
              </a:rPr>
              <a:t>Day 2 — Source reliability &amp; media forensics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697480"/>
            <a:ext cx="804672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800" b="0" i="1">
                <a:solidFill>
                  <a:srgbClr val="1E40AF"/>
                </a:solidFill>
                <a:latin typeface="Arial"/>
              </a:rPr>
              <a:t>Source reliability · Disinformation · Media forensics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429000"/>
            <a:ext cx="109728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566160"/>
            <a:ext cx="80467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200" b="0" i="0">
                <a:solidFill>
                  <a:srgbClr val="6B7280"/>
                </a:solidFill>
                <a:latin typeface="Arial"/>
              </a:rPr>
              <a:t>Morning: theory in depth  —  Afternoon: hands-on lab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686300"/>
            <a:ext cx="80467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2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Learning objectives — Day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2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By the end of this day, participants will be able to: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8229600" cy="266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Rate a source on both axes: reliability and credibility (Admiralty Code).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Trace a claim back to its first occurrence online.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Recognise the signatures of coordinated inauthentic behaviour (CIB).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Read what metadata does and does not prove.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Spot the signatures of synthetic media and deepfakes.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Verify a media's provenance with cryptographic credentials (C2PA).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SCHEDULE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Running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2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Morning theory alternating with afternoon practice (min. 60% hands-on).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960000"/>
          <a:ext cx="8229600" cy="1800000"/>
        </p:xfrm>
        <a:graphic>
          <a:graphicData uri="http://schemas.openxmlformats.org/drawingml/2006/table">
            <a:tbl>
              <a:tblPr/>
              <a:tblGrid>
                <a:gridCol w="1600000"/>
                <a:gridCol w="4900000"/>
                <a:gridCol w="1729600"/>
              </a:tblGrid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Slot</a:t>
                      </a:r>
                    </a:p>
                  </a:txBody>
                  <a:tcPr marL="76200" marR="76200" marT="45720" marB="45720" anchor="ctr"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Content</a:t>
                      </a:r>
                    </a:p>
                  </a:txBody>
                  <a:tcPr marL="76200" marR="76200" marT="45720" marB="45720" anchor="ctr"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Format</a:t>
                      </a:r>
                    </a:p>
                  </a:txBody>
                  <a:tcPr marL="76200" marR="76200" marT="45720" marB="45720" anchor="ctr">
                    <a:solidFill>
                      <a:srgbClr val="1E40A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Morning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Source reliability &amp; Admiralty Code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Theory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Morning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Disinformation, fact-checking, CIB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Theory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Afternoon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Media forensics: signal &amp; provenance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Lab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Afternoon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Deepfakes &amp; verification note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Lab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188720"/>
            <a:ext cx="2743200" cy="182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ctr">
              <a:buNone/>
            </a:pPr>
            <a:r>
              <a:rPr sz="14000" b="1" i="0">
                <a:solidFill>
                  <a:srgbClr val="F3F4F6"/>
                </a:solidFill>
                <a:latin typeface="Arial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737360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100" b="1" i="0">
                <a:solidFill>
                  <a:srgbClr val="6B7280"/>
                </a:solidFill>
                <a:latin typeface="Arial"/>
              </a:rPr>
              <a:t>SEQUENCE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057400"/>
            <a:ext cx="548640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800" b="1" i="0">
                <a:solidFill>
                  <a:srgbClr val="1F2937"/>
                </a:solidFill>
                <a:latin typeface="Arial"/>
              </a:rPr>
              <a:t>Source reliability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063240"/>
            <a:ext cx="73152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320040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E40AF"/>
                </a:solidFill>
                <a:latin typeface="Arial"/>
              </a:rPr>
              <a:t>Duration: ~1h30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Two independent axes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2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NATO standard / Admiralty Code: rate the source and the information separately.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2940" y="1965960"/>
            <a:ext cx="24231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2940" y="1965960"/>
            <a:ext cx="242316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940" y="2011680"/>
            <a:ext cx="24231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SOURCE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" y="2423160"/>
            <a:ext cx="224028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100" b="0" i="1">
                <a:solidFill>
                  <a:srgbClr val="6B7280"/>
                </a:solidFill>
                <a:latin typeface="Arial"/>
              </a:rPr>
              <a:t>A → 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" y="2651760"/>
            <a:ext cx="22402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history &amp; nature</a:t>
            </a:r>
          </a:p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of the source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04100" y="2514600"/>
            <a:ext cx="238320" cy="0"/>
          </a:xfrm>
          <a:prstGeom prst="bentConnector3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360420" y="1965960"/>
            <a:ext cx="24231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0420" y="1965960"/>
            <a:ext cx="242316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60420" y="2011680"/>
            <a:ext cx="24231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51860" y="2423160"/>
            <a:ext cx="224028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100" b="0" i="1">
                <a:solidFill>
                  <a:srgbClr val="6B7280"/>
                </a:solidFill>
                <a:latin typeface="Arial"/>
              </a:rPr>
              <a:t>independent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51860" y="2651760"/>
            <a:ext cx="22402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a source rated A</a:t>
            </a:r>
          </a:p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can carry info '5'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01580" y="2514600"/>
            <a:ext cx="238320" cy="0"/>
          </a:xfrm>
          <a:prstGeom prst="bentConnector3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057900" y="1965960"/>
            <a:ext cx="24231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57900" y="1965960"/>
            <a:ext cx="242316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57900" y="2011680"/>
            <a:ext cx="24231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INFO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423160"/>
            <a:ext cx="224028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100" b="0" i="1">
                <a:solidFill>
                  <a:srgbClr val="6B7280"/>
                </a:solidFill>
                <a:latin typeface="Arial"/>
              </a:rPr>
              <a:t>1 → 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9340" y="2651760"/>
            <a:ext cx="22402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credibility of</a:t>
            </a:r>
          </a:p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content itself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1E40AF"/>
                </a:solidFill>
                <a:latin typeface="Arial"/>
              </a:rPr>
              <a:t>RATING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We write "B2", "F6"… The two axes are orthogonal — never conflate them.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Admiralty Code — the two scales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2 / 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960000"/>
          <a:ext cx="8229600" cy="2500000"/>
        </p:xfrm>
        <a:graphic>
          <a:graphicData uri="http://schemas.openxmlformats.org/drawingml/2006/table">
            <a:tbl>
              <a:tblPr/>
              <a:tblGrid>
                <a:gridCol w="1500000"/>
                <a:gridCol w="2700000"/>
                <a:gridCol w="1300000"/>
                <a:gridCol w="2729600"/>
              </a:tblGrid>
              <a:tr h="35714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Source (A–F)</a:t>
                      </a:r>
                    </a:p>
                  </a:txBody>
                  <a:tcPr marL="76200" marR="76200" marT="45720" marB="45720" anchor="ctr"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Def.</a:t>
                      </a:r>
                    </a:p>
                  </a:txBody>
                  <a:tcPr marL="76200" marR="76200" marT="45720" marB="45720" anchor="ctr"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Info (1–6)</a:t>
                      </a:r>
                    </a:p>
                  </a:txBody>
                  <a:tcPr marL="76200" marR="76200" marT="45720" marB="45720" anchor="ctr"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Def.</a:t>
                      </a:r>
                    </a:p>
                  </a:txBody>
                  <a:tcPr marL="76200" marR="76200" marT="45720" marB="45720" anchor="ctr">
                    <a:solidFill>
                      <a:srgbClr val="1E40AF"/>
                    </a:solidFill>
                  </a:tcPr>
                </a:tc>
              </a:tr>
              <a:tr h="35714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Fully reliable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Confirmed elsewhere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</a:tr>
              <a:tr h="35714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Usually reliable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Probably true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</a:tr>
              <a:tr h="35714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Fairly good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Possibly true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</a:tr>
              <a:tr h="35714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D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Not usually reliable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Doubtful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</a:tr>
              <a:tr h="35714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E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Unreliable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Improbable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</a:tr>
              <a:tr h="3571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F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Undetermined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Undetermined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Evaluating an open source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2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Transparency, cited primary sources, absence of conflict of interest.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3990000" cy="3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100" b="1" i="0">
                <a:solidFill>
                  <a:srgbClr val="1E40AF"/>
                </a:solidFill>
                <a:latin typeface="Arial"/>
              </a:rPr>
              <a:t>CRAAP TEST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67360"/>
            <a:ext cx="3990000" cy="223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3000"/>
              </a:lnSpc>
              <a:spcAft>
                <a:spcPts val="5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Currency — recency</a:t>
            </a:r>
          </a:p>
          <a:p>
            <a:pPr algn="l" marL="228600" indent="-228600">
              <a:lnSpc>
                <a:spcPct val="103000"/>
              </a:lnSpc>
              <a:spcAft>
                <a:spcPts val="5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Relevance — right fit</a:t>
            </a:r>
          </a:p>
          <a:p>
            <a:pPr algn="l" marL="228600" indent="-228600">
              <a:lnSpc>
                <a:spcPct val="103000"/>
              </a:lnSpc>
              <a:spcAft>
                <a:spcPts val="5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Authority — author's credentials</a:t>
            </a:r>
          </a:p>
          <a:p>
            <a:pPr algn="l" marL="228600" indent="-228600">
              <a:lnSpc>
                <a:spcPct val="103000"/>
              </a:lnSpc>
              <a:spcAft>
                <a:spcPts val="5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Accuracy — verifiable facts</a:t>
            </a:r>
          </a:p>
          <a:p>
            <a:pPr algn="l" marL="228600" indent="-228600">
              <a:lnSpc>
                <a:spcPct val="103000"/>
              </a:lnSpc>
              <a:spcAft>
                <a:spcPts val="5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Purpose — real intent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97200" y="1837360"/>
            <a:ext cx="3990000" cy="3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100" b="1" i="0">
                <a:solidFill>
                  <a:srgbClr val="1E40AF"/>
                </a:solidFill>
                <a:latin typeface="Arial"/>
              </a:rPr>
              <a:t>VALUE HIERARCHY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97200" y="2167360"/>
            <a:ext cx="3990000" cy="223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3000"/>
              </a:lnSpc>
              <a:spcAft>
                <a:spcPts val="5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Primary (document, record, direct witness)</a:t>
            </a:r>
          </a:p>
          <a:p>
            <a:pPr algn="l" marL="228600" indent="-228600">
              <a:lnSpc>
                <a:spcPct val="103000"/>
              </a:lnSpc>
              <a:spcAft>
                <a:spcPts val="5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Secondary (analysis)</a:t>
            </a:r>
          </a:p>
          <a:p>
            <a:pPr algn="l" marL="228600" indent="-228600">
              <a:lnSpc>
                <a:spcPct val="103000"/>
              </a:lnSpc>
              <a:spcAft>
                <a:spcPts val="5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Tertiary (compilation)</a:t>
            </a:r>
          </a:p>
          <a:p>
            <a:pPr algn="l" marL="228600" indent="-228600">
              <a:lnSpc>
                <a:spcPct val="103000"/>
              </a:lnSpc>
              <a:spcAft>
                <a:spcPts val="5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→ go back to the primary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Cross-checking &amp;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2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Cross-checking is only valid if the sources are genuinely independent.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2940" y="1965960"/>
            <a:ext cx="24231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2940" y="1965960"/>
            <a:ext cx="242316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940" y="2011680"/>
            <a:ext cx="24231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COLLECT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" y="2423160"/>
            <a:ext cx="224028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100" b="0" i="1">
                <a:solidFill>
                  <a:srgbClr val="6B7280"/>
                </a:solidFill>
                <a:latin typeface="Arial"/>
              </a:rPr>
              <a:t>multiple sources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" y="2651760"/>
            <a:ext cx="22402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multi-source</a:t>
            </a:r>
          </a:p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multi-angle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04100" y="2514600"/>
            <a:ext cx="238320" cy="0"/>
          </a:xfrm>
          <a:prstGeom prst="bentConnector3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360420" y="1965960"/>
            <a:ext cx="24231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0420" y="1965960"/>
            <a:ext cx="242316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60420" y="2011680"/>
            <a:ext cx="24231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TRACE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51860" y="2423160"/>
            <a:ext cx="224028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100" b="0" i="1">
                <a:solidFill>
                  <a:srgbClr val="6B7280"/>
                </a:solidFill>
                <a:latin typeface="Arial"/>
              </a:rPr>
              <a:t>to the primary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51860" y="2651760"/>
            <a:ext cx="22402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who said what?</a:t>
            </a:r>
          </a:p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who cites whom?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01580" y="2514600"/>
            <a:ext cx="238320" cy="0"/>
          </a:xfrm>
          <a:prstGeom prst="bentConnector3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057900" y="1965960"/>
            <a:ext cx="24231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57900" y="1965960"/>
            <a:ext cx="242316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57900" y="2011680"/>
            <a:ext cx="24231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VERIFY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423160"/>
            <a:ext cx="224028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100" b="0" i="1">
                <a:solidFill>
                  <a:srgbClr val="6B7280"/>
                </a:solidFill>
                <a:latin typeface="Arial"/>
              </a:rPr>
              <a:t>independence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9340" y="2651760"/>
            <a:ext cx="22402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sources really</a:t>
            </a:r>
          </a:p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independent?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B45309"/>
                </a:solidFill>
                <a:latin typeface="Arial"/>
              </a:rPr>
              <a:t>CIRCULAR REPORTING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3 outlets citing the same anonymous post = 1 source, not 3 confirmations.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Provenance &amp; chain of custody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2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Reference: Berkeley Protocol on Digital Open Source Investigations.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8229600" cy="266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Document: where, when, how and by whom each item was collected.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Keep the exact URL + UTC collection timestamp.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Archive a copy (screenshot) and compute its SHA-256 hash.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Independent proof of archiving (timestamp service / Wayback).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Determines legal admissibility and guards against integrity challenges.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1E40AF"/>
                </a:solidFill>
                <a:latin typeface="Arial"/>
              </a:rPr>
              <a:t>CONFIDENCE ≠ PROBABILITY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"70% probability, moderate confidence": two distinct dimensions of judgement (ICD 203).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Analytical tooling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2 / 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960000"/>
          <a:ext cx="8229600" cy="2160000"/>
        </p:xfrm>
        <a:graphic>
          <a:graphicData uri="http://schemas.openxmlformats.org/drawingml/2006/table">
            <a:tbl>
              <a:tblPr/>
              <a:tblGrid>
                <a:gridCol w="1700000"/>
                <a:gridCol w="4100000"/>
                <a:gridCol w="2429600"/>
              </a:tblGrid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marL="76200" marR="76200" marT="45720" marB="45720" anchor="ctr"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Tools</a:t>
                      </a:r>
                    </a:p>
                  </a:txBody>
                  <a:tcPr marL="76200" marR="76200" marT="45720" marB="45720" anchor="ctr"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Usage</a:t>
                      </a:r>
                    </a:p>
                  </a:txBody>
                  <a:tcPr marL="76200" marR="76200" marT="45720" marB="45720" anchor="ctr">
                    <a:solidFill>
                      <a:srgbClr val="1E40A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Mapping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Maltego, i2, Gephi, NetworkX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Entity/relationship graph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Cases / inquiry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Aleph (OCCRP), Hunchly, TheHive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Capture &amp; sharing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ACH matrices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PARC ACH, Open-ACH, sheet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Hypothesis diagnostics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Timeline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Timesketch, Aeon Timeline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Timeline reconstruction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Preservation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Hunchly, hash + timestamp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Provenance / admissibility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188720"/>
            <a:ext cx="2743200" cy="182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ctr">
              <a:buNone/>
            </a:pPr>
            <a:r>
              <a:rPr sz="14000" b="1" i="0">
                <a:solidFill>
                  <a:srgbClr val="F3F4F6"/>
                </a:solidFill>
                <a:latin typeface="Arial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737360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100" b="1" i="0">
                <a:solidFill>
                  <a:srgbClr val="6B7280"/>
                </a:solidFill>
                <a:latin typeface="Arial"/>
              </a:rPr>
              <a:t>SEQUENCE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057400"/>
            <a:ext cx="548640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800" b="1" i="0">
                <a:solidFill>
                  <a:srgbClr val="1F2937"/>
                </a:solidFill>
                <a:latin typeface="Arial"/>
              </a:rPr>
              <a:t>Verifying disinformation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063240"/>
            <a:ext cx="73152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320040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E40AF"/>
                </a:solidFill>
                <a:latin typeface="Arial"/>
              </a:rPr>
              <a:t>Duration: ~1h30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Typology (information disorder)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2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Three categories (Wardle's typology) — intent and veracity vary.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2940" y="1965960"/>
            <a:ext cx="24231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2940" y="1965960"/>
            <a:ext cx="242316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940" y="2011680"/>
            <a:ext cx="24231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MIS-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" y="2423160"/>
            <a:ext cx="224028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100" b="0" i="1">
                <a:solidFill>
                  <a:srgbClr val="6B7280"/>
                </a:solidFill>
                <a:latin typeface="Arial"/>
              </a:rPr>
              <a:t>no intent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" y="2651760"/>
            <a:ext cx="22402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false</a:t>
            </a:r>
          </a:p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honest mistake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04100" y="2514600"/>
            <a:ext cx="238320" cy="0"/>
          </a:xfrm>
          <a:prstGeom prst="bentConnector3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360420" y="1965960"/>
            <a:ext cx="24231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0420" y="1965960"/>
            <a:ext cx="242316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60420" y="2011680"/>
            <a:ext cx="24231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DIS-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51860" y="2423160"/>
            <a:ext cx="224028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100" b="0" i="1">
                <a:solidFill>
                  <a:srgbClr val="6B7280"/>
                </a:solidFill>
                <a:latin typeface="Arial"/>
              </a:rPr>
              <a:t>with intent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51860" y="2651760"/>
            <a:ext cx="22402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false</a:t>
            </a:r>
          </a:p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intent to harm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01580" y="2514600"/>
            <a:ext cx="238320" cy="0"/>
          </a:xfrm>
          <a:prstGeom prst="bentConnector3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057900" y="1965960"/>
            <a:ext cx="24231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57900" y="1965960"/>
            <a:ext cx="242316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57900" y="2011680"/>
            <a:ext cx="24231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MAL-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423160"/>
            <a:ext cx="224028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100" b="0" i="1">
                <a:solidFill>
                  <a:srgbClr val="6B7280"/>
                </a:solidFill>
                <a:latin typeface="Arial"/>
              </a:rPr>
              <a:t>true, out of context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9340" y="2651760"/>
            <a:ext cx="22402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real info</a:t>
            </a:r>
          </a:p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out of context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1E40AF"/>
                </a:solidFill>
                <a:latin typeface="Arial"/>
              </a:rPr>
              <a:t>CONSEQUENCE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The response differs: correct an error, counter an operation, recontextualise a leak.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Fact-checking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2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Six reproducible steps.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8229600" cy="266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Isolate the checkable claim (separate fact from opinion).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Trace to the primary source (cf. circular reporting, Seq. 1).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Authenticate associated media (sequence 1).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Cross-check against independent sources.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Contextualise: dates, places, full quotations.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Conclude: a graded, sourced verdict (true / misleading / false / unverifiable).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Coordinated inauthentic behaviour (CIB)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2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Modern disinformation is operationalised: networks of accounts.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8229600" cy="266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Temporal synchronisation of posts (same minutes).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Near-duplicate content (copy-paste, slight variants).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Shell accounts: mass-created, little history, stolen/generic photos.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Artificial amplification: non-organic spikes, amplification networks.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Shared technical footprint: same shorteners, infra, time zones.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1E40AF"/>
                </a:solidFill>
                <a:latin typeface="Arial"/>
              </a:rPr>
              <a:t>METHOD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Detecting CIB = network analysis (graph, seq. 1) + timing analysis + content similarity.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Narrative analysis &amp;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2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Beyond true/false: understanding the operation.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3990000" cy="3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100" b="1" i="0">
                <a:solidFill>
                  <a:srgbClr val="1E40AF"/>
                </a:solidFill>
                <a:latin typeface="Arial"/>
              </a:rPr>
              <a:t>INFLUENCE 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67360"/>
            <a:ext cx="3990000" cy="223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3000"/>
              </a:lnSpc>
              <a:spcAft>
                <a:spcPts val="5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Which narrative is pushed?</a:t>
            </a:r>
          </a:p>
          <a:p>
            <a:pPr algn="l" marL="228600" indent="-228600">
              <a:lnSpc>
                <a:spcPct val="103000"/>
              </a:lnSpc>
              <a:spcAft>
                <a:spcPts val="5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Aimed at whom?</a:t>
            </a:r>
          </a:p>
          <a:p>
            <a:pPr algn="l" marL="228600" indent="-228600">
              <a:lnSpc>
                <a:spcPct val="103000"/>
              </a:lnSpc>
              <a:spcAft>
                <a:spcPts val="5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Via which channels?</a:t>
            </a:r>
          </a:p>
          <a:p>
            <a:pPr algn="l" marL="228600" indent="-228600">
              <a:lnSpc>
                <a:spcPct val="103000"/>
              </a:lnSpc>
              <a:spcAft>
                <a:spcPts val="5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Origin → relays → amplifiers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97200" y="1837360"/>
            <a:ext cx="3990000" cy="3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100" b="1" i="0">
                <a:solidFill>
                  <a:srgbClr val="1E40AF"/>
                </a:solidFill>
                <a:latin typeface="Arial"/>
              </a:rPr>
              <a:t>TOOLKIT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97200" y="2167360"/>
            <a:ext cx="3990000" cy="223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3000"/>
              </a:lnSpc>
              <a:spcAft>
                <a:spcPts val="5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FotoForensics, Forensically</a:t>
            </a:r>
          </a:p>
          <a:p>
            <a:pPr algn="l" marL="228600" indent="-228600">
              <a:lnSpc>
                <a:spcPct val="103000"/>
              </a:lnSpc>
              <a:spcAft>
                <a:spcPts val="5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InVID/WeVerify, exiftool, ffprobe</a:t>
            </a:r>
          </a:p>
          <a:p>
            <a:pPr algn="l" marL="228600" indent="-228600">
              <a:lnSpc>
                <a:spcPct val="103000"/>
              </a:lnSpc>
              <a:spcAft>
                <a:spcPts val="5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Reverse: Google/Yandex/TinEye</a:t>
            </a:r>
          </a:p>
          <a:p>
            <a:pPr algn="l" marL="228600" indent="-228600">
              <a:lnSpc>
                <a:spcPct val="103000"/>
              </a:lnSpc>
              <a:spcAft>
                <a:spcPts val="5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Graph: Gephi / NetworkX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Today's cardinal principle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2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00000"/>
            <a:ext cx="8229600" cy="2400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00000"/>
            <a:ext cx="73152" cy="24000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0000" y="1850000"/>
            <a:ext cx="7700000" cy="1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lnSpc>
                <a:spcPct val="115000"/>
              </a:lnSpc>
              <a:buNone/>
            </a:pPr>
            <a:r>
              <a:rPr sz="1500" b="0" i="1">
                <a:solidFill>
                  <a:srgbClr val="1F2937"/>
                </a:solidFill>
                <a:latin typeface="Arial"/>
              </a:rPr>
              <a:t>No single clue is conclusive. Metadata, signal, geo/chrono, provenance and cross-checking converge — or diverge. A media's truth is read in the WEIGHT OF EVIDENCE, never in a single test.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850000"/>
            <a:ext cx="7700000" cy="2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100" b="1" i="0">
                <a:solidFill>
                  <a:srgbClr val="1E40AF"/>
                </a:solidFill>
                <a:latin typeface="Arial"/>
              </a:rPr>
              <a:t>— Weight-of-evidence verification methodology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188720"/>
            <a:ext cx="2743200" cy="182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ctr">
              <a:buNone/>
            </a:pPr>
            <a:r>
              <a:rPr sz="14000" b="1" i="0">
                <a:solidFill>
                  <a:srgbClr val="F3F4F6"/>
                </a:solidFill>
                <a:latin typeface="Arial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737360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100" b="1" i="0">
                <a:solidFill>
                  <a:srgbClr val="6B7280"/>
                </a:solidFill>
                <a:latin typeface="Arial"/>
              </a:rPr>
              <a:t>SEQUENCE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057400"/>
            <a:ext cx="548640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800" b="1" i="0">
                <a:solidFill>
                  <a:srgbClr val="1F2937"/>
                </a:solidFill>
                <a:latin typeface="Arial"/>
              </a:rPr>
              <a:t>Image &amp; video forensics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063240"/>
            <a:ext cx="73152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320040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E40AF"/>
                </a:solidFill>
                <a:latin typeface="Arial"/>
              </a:rPr>
              <a:t>Duration: ~2h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An image no longer "proves" much by default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2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We combine technical forensics and editorial verification.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8229600" cy="266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Trivial editing + synthetic media → no intrinsic evidentiary value.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Each visual = evidence that must be AUTHENTICATED.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Four questions: is it authentic? where's it from? is it true? an influence operation?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1E40AF"/>
                </a:solidFill>
                <a:latin typeface="Arial"/>
              </a:rPr>
              <a:t>VERIFICATION CHAIN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Five questions: provenance · source · date · place · motivation (First Draft / Bellingcat).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Metadata: a first layer, handled with caution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2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Reference tool: exiftool.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8229600" cy="266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EXIF (device, date, GPS), IPTC (caption/credit), XMP (editing, software).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Social media platforms STRIP most metadata → absence proves nothing.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They're trivially FORGEABLE → an EXIF date is a claim, not proof.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We look for INCONSISTENCIES: date &gt; upload, GPS ≠ place, undeclared software, mismatched thumbnail.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B45309"/>
                </a:solidFill>
                <a:latin typeface="Arial"/>
              </a:rPr>
              <a:t>RULE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Metadata points the way; it doesn't conclude. Proof comes from CONVERGENCE.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Signal analysis: detecting manipulation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2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994800" cy="1307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73152" cy="1307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00" y="1725920"/>
            <a:ext cx="3744800" cy="2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200" b="1" i="0">
                <a:solidFill>
                  <a:srgbClr val="1E40AF"/>
                </a:solidFill>
                <a:latin typeface="Arial"/>
              </a:rPr>
              <a:t>ELA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00" y="2005920"/>
            <a:ext cx="3744800" cy="887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recompression + difference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edited areas stand out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indicator, not proof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92000" y="1645920"/>
            <a:ext cx="3994800" cy="1307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92000" y="1645920"/>
            <a:ext cx="73152" cy="1307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52000" y="1725920"/>
            <a:ext cx="3744800" cy="2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200" b="1" i="0">
                <a:solidFill>
                  <a:srgbClr val="1E40AF"/>
                </a:solidFill>
                <a:latin typeface="Arial"/>
              </a:rPr>
              <a:t>JPEG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52000" y="2005920"/>
            <a:ext cx="3744800" cy="887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ghosts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misaligned 8×8 grid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quantisation tables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92960"/>
            <a:ext cx="3994800" cy="1307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192960"/>
            <a:ext cx="73152" cy="1307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00" y="3272960"/>
            <a:ext cx="3744800" cy="2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200" b="1" i="0">
                <a:solidFill>
                  <a:srgbClr val="1E40AF"/>
                </a:solidFill>
                <a:latin typeface="Arial"/>
              </a:rPr>
              <a:t>PRNU / sensor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00" y="3552960"/>
            <a:ext cx="3744800" cy="887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sensor noise signature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local absence = insertion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92000" y="3192960"/>
            <a:ext cx="3994800" cy="1307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92000" y="3192960"/>
            <a:ext cx="73152" cy="1307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52000" y="3272960"/>
            <a:ext cx="3744800" cy="2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200" b="1" i="0">
                <a:solidFill>
                  <a:srgbClr val="1E40AF"/>
                </a:solidFill>
                <a:latin typeface="Arial"/>
              </a:rPr>
              <a:t>Clone / splice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52000" y="3552960"/>
            <a:ext cx="3744800" cy="887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copy-move (correlation)</a:t>
            </a:r>
          </a:p>
          <a:p>
            <a:pPr algn="l" marL="228600" indent="-228600">
              <a:lnSpc>
                <a:spcPct val="102000"/>
              </a:lnSpc>
              <a:spcAft>
                <a:spcPts val="400"/>
              </a:spcAft>
              <a:buClr>
                <a:srgbClr val="1E40AF"/>
              </a:buClr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Arial"/>
              </a:rPr>
              <a:t>splicing (edges, noise)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Physical coherence: often more telling than the pixel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2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An inconsistent shadow betrays a montage better than pixel analysis.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8229600" cy="266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Shadows: direction, hardness, converging on a single source.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Reflections: consistent (eyes, glass)?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Perspective &amp; vanishing points: plausible geometry?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Lighting: does the light tell a coherent story?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1E40AF"/>
                </a:solidFill>
                <a:latin typeface="Arial"/>
              </a:rPr>
              <a:t>TIP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The sun's position (SunCalc) links shadows, time and date: a tool for coherence AND chronolocation.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Synthetic media: deepfakes &amp; generation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2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Artefacts fade fast — detection ages quickly.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8229600" cy="266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Types: face swap/reenactment, full synthesis (diffusion), cloned voice, lip-sync.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Visual artefacts: face boundaries, blinking, corneal reflections, odd hands.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Temporal artefacts (video): flicker, lip/audio desync, unstable cuts.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Frequency artefacts: GAN/diffusion signatures in the Fourier domain.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991B1B"/>
                </a:solidFill>
                <a:latin typeface="Arial"/>
              </a:rPr>
              <a:t>WARNING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Automated deepfake detectors are not robust. Never alone: provenance + cross-checking matter most.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Cryptographic provenance: C2PA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2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C2PA / Content Credentials: the structural answer to the authenticity problem.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2940" y="1965960"/>
            <a:ext cx="24231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2940" y="1965960"/>
            <a:ext cx="242316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940" y="2011680"/>
            <a:ext cx="24231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CAPTURE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" y="2423160"/>
            <a:ext cx="224028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100" b="0" i="1">
                <a:solidFill>
                  <a:srgbClr val="6B7280"/>
                </a:solidFill>
                <a:latin typeface="Arial"/>
              </a:rPr>
              <a:t>signature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" y="2651760"/>
            <a:ext cx="22402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signed manifest</a:t>
            </a:r>
          </a:p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at capture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04100" y="2514600"/>
            <a:ext cx="238320" cy="0"/>
          </a:xfrm>
          <a:prstGeom prst="bentConnector3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360420" y="1965960"/>
            <a:ext cx="24231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0420" y="1965960"/>
            <a:ext cx="242316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60420" y="2011680"/>
            <a:ext cx="24231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EDITING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51860" y="2423160"/>
            <a:ext cx="224028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100" b="0" i="1">
                <a:solidFill>
                  <a:srgbClr val="6B7280"/>
                </a:solidFill>
                <a:latin typeface="Arial"/>
              </a:rPr>
              <a:t>log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51860" y="2651760"/>
            <a:ext cx="22402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every edit</a:t>
            </a:r>
          </a:p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logged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01580" y="2514600"/>
            <a:ext cx="238320" cy="0"/>
          </a:xfrm>
          <a:prstGeom prst="bentConnector3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057900" y="1965960"/>
            <a:ext cx="24231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57900" y="1965960"/>
            <a:ext cx="242316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57900" y="2011680"/>
            <a:ext cx="24231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423160"/>
            <a:ext cx="224028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>
              <a:buNone/>
            </a:pPr>
            <a:r>
              <a:rPr sz="1100" b="0" i="1">
                <a:solidFill>
                  <a:srgbClr val="6B7280"/>
                </a:solidFill>
                <a:latin typeface="Arial"/>
              </a:rPr>
              <a:t>Content Credentials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9340" y="2651760"/>
            <a:ext cx="22402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valid manifest</a:t>
            </a:r>
          </a:p>
          <a:p>
            <a:pPr algn="ctr">
              <a:buNone/>
            </a:pPr>
            <a:r>
              <a:rPr sz="1050" b="0" i="0">
                <a:solidFill>
                  <a:srgbClr val="1F2937"/>
                </a:solidFill>
                <a:latin typeface="Arial"/>
              </a:rPr>
              <a:t>= strong indication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1E40AF"/>
                </a:solidFill>
                <a:latin typeface="Arial"/>
              </a:rPr>
              <a:t>KEY POINT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Valid manifest = strong indication. Absence ≠ fake, but removes a safeguard. Check when available.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Geolocation &amp; chronolocation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2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Extract the clues, then correlate them with open references.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3990000" cy="3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100" b="1" i="0">
                <a:solidFill>
                  <a:srgbClr val="1E40AF"/>
                </a:solidFill>
                <a:latin typeface="Arial"/>
              </a:rPr>
              <a:t>GEOLOCATE (WHERE?)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67360"/>
            <a:ext cx="3990000" cy="223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3000"/>
              </a:lnSpc>
              <a:spcAft>
                <a:spcPts val="5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Clues: signs, language, plates</a:t>
            </a:r>
          </a:p>
          <a:p>
            <a:pPr algn="l" marL="228600" indent="-228600">
              <a:lnSpc>
                <a:spcPct val="103000"/>
              </a:lnSpc>
              <a:spcAft>
                <a:spcPts val="5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Architecture, vegetation, terrain</a:t>
            </a:r>
          </a:p>
          <a:p>
            <a:pPr algn="l" marL="228600" indent="-228600">
              <a:lnSpc>
                <a:spcPct val="103000"/>
              </a:lnSpc>
              <a:spcAft>
                <a:spcPts val="5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Correlate: satellite, Street View</a:t>
            </a:r>
          </a:p>
          <a:p>
            <a:pPr algn="l" marL="228600" indent="-228600">
              <a:lnSpc>
                <a:spcPct val="103000"/>
              </a:lnSpc>
              <a:spcAft>
                <a:spcPts val="5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Shadows → orientation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97200" y="1837360"/>
            <a:ext cx="3990000" cy="3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100" b="1" i="0">
                <a:solidFill>
                  <a:srgbClr val="1E40AF"/>
                </a:solidFill>
                <a:latin typeface="Arial"/>
              </a:rPr>
              <a:t>CHRONOLOCATE (WHEN?)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97200" y="2167360"/>
            <a:ext cx="3990000" cy="223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3000"/>
              </a:lnSpc>
              <a:spcAft>
                <a:spcPts val="5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Sun position (SunCalc)</a:t>
            </a:r>
          </a:p>
          <a:p>
            <a:pPr algn="l" marL="228600" indent="-228600">
              <a:lnSpc>
                <a:spcPct val="103000"/>
              </a:lnSpc>
              <a:spcAft>
                <a:spcPts val="5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Seasonal / weather clues</a:t>
            </a:r>
          </a:p>
          <a:p>
            <a:pPr algn="l" marL="228600" indent="-228600">
              <a:lnSpc>
                <a:spcPct val="103000"/>
              </a:lnSpc>
              <a:spcAft>
                <a:spcPts val="5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Datable events</a:t>
            </a:r>
          </a:p>
          <a:p>
            <a:pPr algn="l" marL="228600" indent="-228600">
              <a:lnSpc>
                <a:spcPct val="103000"/>
              </a:lnSpc>
              <a:spcAft>
                <a:spcPts val="5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Shadow time = claimed time?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The dominant lie: recontextualisation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2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The verifier's reflex #1.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8229600" cy="266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It's often not a fake: a REAL image attributed to another place/time.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Reverse image: Google, Yandex (often superior), TinEye (precedence), Bing.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Finding the FIRST occurrence → debunks false attribution.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Video: extract keyframes, then reverse each 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B45309"/>
                </a:solidFill>
                <a:latin typeface="Arial"/>
              </a:rPr>
              <a:t>VIDEO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No reliable native video reverse search: split into keyframes (ffmpeg), search image by image.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SEQUENCE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Video forensics: key commands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2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Container, keyframes, cuts, audio/video coherence.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229600" cy="23600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920240"/>
            <a:ext cx="7955280" cy="2177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6B7280"/>
                </a:solidFill>
                <a:latin typeface="Consolas"/>
              </a:rPr>
              <a:t># Container metadata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ffprobe clip.mp4 ; mediainfo clip.mp4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/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6B7280"/>
                </a:solidFill>
                <a:latin typeface="Consolas"/>
              </a:rPr>
              <a:t># Extract keyframes (1 fps) for reverse + inspection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ffmpeg -i clip.mp4 -vf fps=1 frames/kf_%03d.png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/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6B7280"/>
                </a:solidFill>
                <a:latin typeface="Consolas"/>
              </a:rPr>
              <a:t># Detect scene changes (cuts)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ffmpeg -i clip.mp4 -vf "select=gt(scene,0.4),showinfo" -f null -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/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6B7280"/>
                </a:solidFill>
                <a:latin typeface="Consolas"/>
              </a:rPr>
              <a:t># Reference suite: InVID / WeVerify (browser extension)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1E40AF"/>
                </a:solidFill>
                <a:latin typeface="Arial"/>
              </a:rPr>
              <a:t>INVID/WEVERIFY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Fragmentation, analysis loupe, built-in reverse, metadata reading, account verification.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188720"/>
            <a:ext cx="2743200" cy="182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ctr">
              <a:buNone/>
            </a:pPr>
            <a:r>
              <a:rPr sz="14000" b="1" i="0">
                <a:solidFill>
                  <a:srgbClr val="F3F4F6"/>
                </a:solidFill>
                <a:latin typeface="Arial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737360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100" b="1" i="0">
                <a:solidFill>
                  <a:srgbClr val="6B7280"/>
                </a:solidFill>
                <a:latin typeface="Arial"/>
              </a:rPr>
              <a:t>HANDS-ON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057400"/>
            <a:ext cx="548640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800" b="1" i="0">
                <a:solidFill>
                  <a:srgbClr val="1F2937"/>
                </a:solidFill>
                <a:latin typeface="Arial"/>
              </a:rPr>
              <a:t>From toolbox to verdict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063240"/>
            <a:ext cx="73152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320040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E40AF"/>
                </a:solidFill>
                <a:latin typeface="Arial"/>
              </a:rPr>
              <a:t>Afternoon: 3h30 hands-on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LAB — AFTERNOON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Afternoon red thread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2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Four hands-on TPs, in order. Each applies this morning's theory; the cheat sheets are your toolbox.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960000"/>
          <a:ext cx="8229600" cy="2160000"/>
        </p:xfrm>
        <a:graphic>
          <a:graphicData uri="http://schemas.openxmlformats.org/drawingml/2006/table">
            <a:tbl>
              <a:tblPr/>
              <a:tblGrid>
                <a:gridCol w="1100000"/>
                <a:gridCol w="5400000"/>
                <a:gridCol w="1729600"/>
              </a:tblGrid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marL="76200" marR="76200" marT="45720" marB="45720" anchor="ctr"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Hands-on TP</a:t>
                      </a:r>
                    </a:p>
                  </a:txBody>
                  <a:tcPr marL="76200" marR="76200" marT="45720" marB="45720" anchor="ctr"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Time</a:t>
                      </a:r>
                    </a:p>
                  </a:txBody>
                  <a:tcPr marL="76200" marR="76200" marT="45720" marB="45720" anchor="ctr">
                    <a:solidFill>
                      <a:srgbClr val="1E40A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Scripting toolbox - Email Harvester (curl+regex) + API Scraping (Burp+Python)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90 min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Geosint - Operation Glass Eye (geolocation &amp; chronolocation)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75 min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Media Forensics - Operation Riverbank (authenticate &amp; dismantle)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75 min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Deliverable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One verification note per case (verdict + provenance + rating)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76200" marR="76200" marT="45720" marB="45720" anchor="ctr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Toolbox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Cheat sheets: Linux basics, Bash scripting, Kali/OSINT tools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76200" marR="76200" marT="45720" marB="45720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LAB - TP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Build your toolbox (scripting)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2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Harvest data with curl + regex, then scrape an API you captured with Burp + Python.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229600" cy="23600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920240"/>
            <a:ext cx="7955280" cy="2177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6B7280"/>
                </a:solidFill>
                <a:latin typeface="Consolas"/>
              </a:rPr>
              <a:t># Recursive e-mail harvest (bash + curl + regex)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curl -sL "$URL" | grep -oE '[A-Za-z0-9._%+-]+@[A-Za-z0-9.-]+\.[A-Za-z]{2,}'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./harvest.sh http://target/ 2        # crawl depth 2  -&gt; emails.csv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/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6B7280"/>
                </a:solidFill>
                <a:latin typeface="Consolas"/>
              </a:rPr>
              <a:t># Replay a captured API request (python + requests)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r = session.get(url, headers={"Authorization": f"Bearer {token}"})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df = pd.json_normalize(r.json()["hits"]); df.to_csv("products.csv")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B45309"/>
                </a:solidFill>
                <a:latin typeface="Arial"/>
              </a:rPr>
              <a:t>CHEAT SHEETS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Reference: Linux basics, Bash scripting, Kali/OSINT tools. Authorised targets only.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LAB - TP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Geosint - Operation Glass Eye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2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Geolocate a drone's last transmitted frame, then chronolocate it with the sun.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229600" cy="23600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920240"/>
            <a:ext cx="7955280" cy="2177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6B7280"/>
                </a:solidFill>
                <a:latin typeface="Consolas"/>
              </a:rPr>
              <a:t># Chain of custody first (Seq. 1)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sha256sum last_frame.jpg ; exiftool -a -G1 last_frame.jpg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/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6B7280"/>
                </a:solidFill>
                <a:latin typeface="Consolas"/>
              </a:rPr>
              <a:t># Enumerate candidates near the launch point (OpenStreetMap / Overpass)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curl -s https://overpass-api.de/api/interpreter --data-urlencode \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  'data=[out:csv(::lat,::lon)];node["generator:source"="wind"](around:8000,47.5988,-1.1389);out;'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/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6B7280"/>
                </a:solidFill>
                <a:latin typeface="Consolas"/>
              </a:rPr>
              <a:t># Chronolocate: shadow direction + sun position  -&gt; SunCalc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1E40AF"/>
                </a:solidFill>
                <a:latin typeface="Arial"/>
              </a:rPr>
              <a:t>APPLIES - Seq.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Geolocation &amp; chronolocation. Rate every finding with the Admiralty scale.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LAB — AFTERNOON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Deliverable: verification note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2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A structured, sourced, auditable note.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8229600" cy="266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Graded verdict: authentic / misleading / manipulated / synthetic / unverifiable.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Provenance: first occurrence, source, archiving (URL + hash + UTC).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Metadata, signal, geo/chrono, context — each documented.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If relevant: CIB indicators and amplification network.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Conclusion based on the WEIGHT OF EVIDENCE, not one clue.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Day 2 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2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End-of-day quiz to follow.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37360"/>
            <a:ext cx="8229600" cy="2662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A visual has no evidentiary value by default: it must be authenticated.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Chain: provenance, source, date, place, motivation.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Metadata and ELA point the way; reason by convergence.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Deepfakes: prioritise provenance (C2PA) and cross-checking.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The dominant lie is recontextualisation → reverse image.</a:t>
            </a:r>
          </a:p>
          <a:p>
            <a:pPr algn="l" marL="228600" indent="-228600">
              <a:lnSpc>
                <a:spcPct val="105000"/>
              </a:lnSpc>
              <a:spcAft>
                <a:spcPts val="600"/>
              </a:spcAft>
              <a:buClr>
                <a:srgbClr val="1E40AF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Arial"/>
              </a:rPr>
              <a:t>Disinformation: isolate, source, detect CIB through network analysis.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15803D"/>
                </a:solidFill>
                <a:latin typeface="Arial"/>
              </a:rPr>
              <a:t>NEXT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Day 3 — Dark web, crypto tracing &amp; endpoint forensics (memory analysis).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502920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56032"/>
            <a:ext cx="7669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6B7280"/>
                </a:solidFill>
                <a:latin typeface="Arial"/>
              </a:rPr>
              <a:t>LAB - TP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2200" b="1" i="0">
                <a:solidFill>
                  <a:srgbClr val="1F2937"/>
                </a:solidFill>
                <a:latin typeface="Arial"/>
              </a:rPr>
              <a:t>Media Forensics - Operation Riverbank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54864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900" b="0" i="0">
                <a:solidFill>
                  <a:srgbClr val="6B7280"/>
                </a:solidFill>
                <a:latin typeface="Arial"/>
              </a:rPr>
              <a:t>Forensics &amp; OSINT Advanced  -  Day 2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300" b="0" i="1">
                <a:solidFill>
                  <a:srgbClr val="1F2937"/>
                </a:solidFill>
                <a:latin typeface="Arial"/>
              </a:rPr>
              <a:t>Authenticate &amp; dismantle a disinformation case: metadata, signal, provenance, video, coordination.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229600" cy="23600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920240"/>
            <a:ext cx="7955280" cy="2177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import pandas as pd, difflib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df = pd.read_csv("accounts.csv")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df["ts"] = pd.to_datetime(df["timestamp"], utc=True)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/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6B7280"/>
                </a:solidFill>
                <a:latin typeface="Consolas"/>
              </a:rPr>
              <a:t># Creation burst + post synchronisation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df["creation_date"].value_counts().head()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df.groupby(df["ts"].dt.floor("min")).size().sort_values(ascending=False).head()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/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6B7280"/>
                </a:solidFill>
                <a:latin typeface="Consolas"/>
              </a:rPr>
              <a:t># Near-duplicate text (similarity &gt; 0.85)</a:t>
            </a:r>
          </a:p>
          <a:p>
            <a:pPr algn="l">
              <a:lnSpc>
                <a:spcPct val="102000"/>
              </a:lnSpc>
              <a:buNone/>
            </a:pPr>
            <a:r>
              <a:rPr sz="1050" b="0" i="0">
                <a:solidFill>
                  <a:srgbClr val="1F2937"/>
                </a:solidFill>
                <a:latin typeface="Consolas"/>
              </a:rPr>
              <a:t>difflib.SequenceMatcher(None, t_i, t_j).ratio()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464840"/>
            <a:ext cx="795528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l">
              <a:buNone/>
            </a:pPr>
            <a:r>
              <a:rPr sz="1000" b="1" i="0">
                <a:solidFill>
                  <a:srgbClr val="1E40AF"/>
                </a:solidFill>
                <a:latin typeface="Arial"/>
              </a:rPr>
              <a:t>WEIGHT OF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644840"/>
            <a:ext cx="7955280" cy="19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tIns="0" rIns="0" bIns="0" wrap="square"/>
          <a:lstStyle/>
          <a:p>
            <a:pPr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Metadata, ELA, shadows, reverse image, C2PA, video cuts, CIB - converge, never one test.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