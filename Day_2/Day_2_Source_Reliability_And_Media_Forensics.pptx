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720" y="548640"/>
            <a:ext cx="838200" cy="838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0080" y="1188720"/>
            <a:ext cx="80467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200" b="1" i="0">
                <a:solidFill>
                  <a:srgbClr val="6B7280"/>
                </a:solidFill>
                <a:latin typeface="Arial"/>
              </a:rPr>
              <a:t>FORENSICS &amp; OSINT ADVANCED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804672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3600" b="1" i="0">
                <a:solidFill>
                  <a:srgbClr val="1F2937"/>
                </a:solidFill>
                <a:latin typeface="Arial"/>
              </a:rPr>
              <a:t>Day 2 — Source reliability &amp; media forensics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97480"/>
            <a:ext cx="804672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800" b="0" i="1">
                <a:solidFill>
                  <a:srgbClr val="1E40AF"/>
                </a:solidFill>
                <a:latin typeface="Arial"/>
              </a:rPr>
              <a:t>Source reliability · Disinformation · Media forensics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429000"/>
            <a:ext cx="1097280" cy="36576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566160"/>
            <a:ext cx="804672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200" b="0" i="0">
                <a:solidFill>
                  <a:srgbClr val="6B7280"/>
                </a:solidFill>
                <a:latin typeface="Arial"/>
              </a:rPr>
              <a:t>Morning: theory in depth  —  Afternoon: hands-on lab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686300"/>
            <a:ext cx="804672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Learning objectives — Day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By the end of this day, participants will be able to: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Rate a source on both axes: reliability and credibility (Admiralty Code).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Trace a claim back to its first occurrence online.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Recognise the signatures of coordinated inauthentic behaviour (CIB).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Read what metadata does and does not prove.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Spot the signatures of synthetic media and deepfakes.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Verify a media's provenance with cryptographic credentials (C2PA).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SCHEDULE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Running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Morning theory alternating with afternoon practice (min. 60% hands-on).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960000"/>
          <a:ext cx="8229600" cy="1800000"/>
        </p:xfrm>
        <a:graphic>
          <a:graphicData uri="http://schemas.openxmlformats.org/drawingml/2006/table">
            <a:tbl>
              <a:tblPr/>
              <a:tblGrid>
                <a:gridCol w="1600000"/>
                <a:gridCol w="4900000"/>
                <a:gridCol w="1729600"/>
              </a:tblGrid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Slot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Content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Format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Morning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Source reliability &amp; Admiralty Code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Theory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Morning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Disinformation, fact-checking, CIB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Theory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Afternoon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Media forensics: signal &amp; provenance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Lab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Afternoon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Deepfakes &amp; verification note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Lab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188720"/>
            <a:ext cx="2743200" cy="1828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4000" b="1" i="0">
                <a:solidFill>
                  <a:srgbClr val="F3F4F6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73736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6B7280"/>
                </a:solidFill>
                <a:latin typeface="Arial"/>
              </a:rPr>
              <a:t>SEQUENCE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057400"/>
            <a:ext cx="5486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800" b="1" i="0">
                <a:solidFill>
                  <a:srgbClr val="1F2937"/>
                </a:solidFill>
                <a:latin typeface="Arial"/>
              </a:rPr>
              <a:t>Source reliability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063240"/>
            <a:ext cx="731520" cy="36576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320040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E40AF"/>
                </a:solidFill>
                <a:latin typeface="Arial"/>
              </a:rPr>
              <a:t>Duration: ~1h30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Two independent axes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NATO standard / Admiralty Code: rate the source and the information separately.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294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294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SOURCE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A → 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history &amp; nature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of the source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0410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36042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042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6042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5186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independent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5186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a source rated A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can carry info '5'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0158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05790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5790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5790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INFO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1 → 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credibility of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content itself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RATING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We write "B2", "F6"… The two axes are orthogonal — never conflate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Admiralty Code — the two scales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960000"/>
          <a:ext cx="8229600" cy="2500000"/>
        </p:xfrm>
        <a:graphic>
          <a:graphicData uri="http://schemas.openxmlformats.org/drawingml/2006/table">
            <a:tbl>
              <a:tblPr/>
              <a:tblGrid>
                <a:gridCol w="1500000"/>
                <a:gridCol w="2700000"/>
                <a:gridCol w="1300000"/>
                <a:gridCol w="2729600"/>
              </a:tblGrid>
              <a:tr h="35714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Source (A–F)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Def.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Info (1–6)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Def.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</a:tr>
              <a:tr h="35714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Fully reliable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Confirmed elsewhere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5714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Usually reliable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Probably true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  <a:tr h="35714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Fairly good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Possibly true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5714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Not usually reliable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Doubtful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  <a:tr h="35714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E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Unreliable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Improbable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571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F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Undetermined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Undetermined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Evaluating an open 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Transparency, cited primary sources, absence of conflict of interest.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3990000" cy="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1E40AF"/>
                </a:solidFill>
                <a:latin typeface="Arial"/>
              </a:rPr>
              <a:t>CRAAP TEST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67360"/>
            <a:ext cx="3990000" cy="223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Currency — recency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Relevance — right fit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Authority — author's credentials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Accuracy — verifiable facts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Purpose — real intent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97200" y="1837360"/>
            <a:ext cx="3990000" cy="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1E40AF"/>
                </a:solidFill>
                <a:latin typeface="Arial"/>
              </a:rPr>
              <a:t>VALUE HIERARCHY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97200" y="2167360"/>
            <a:ext cx="3990000" cy="223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Primary (document, record, direct witness)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Secondary (analysis)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Tertiary (compilation)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→ go back to the primary 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Cross-checking &amp; verification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Cross-checking is only valid if the sources are genuinely independent.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294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294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COLLECT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multiple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multi-source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multi-angle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0410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36042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042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6042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TRACE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5186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to the primary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5186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who said what?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who cites whom?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0158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05790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5790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5790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VERIFY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independence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sources really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independent?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CIRCULAR REPORTING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3 outlets citing the same anonymous post = 1 source, not 3 confirmations.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Provenance &amp; chain of custody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Reference: Berkeley Protocol on Digital Open Source Investigations.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Document: where, when, how and by whom each item was collected.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Keep the exact URL + UTC collection timestamp.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Archive a copy (screenshot) and compute its SHA-256 hash.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Independent proof of archiving (timestamp service / Wayback).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Determines legal admissibility and guards against integrity challenges.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CONFIDENCE ≠ PROBABILITY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"70% probability, moderate confidence": two distinct dimensions of judgement (ICD 203).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Analytical tooling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960000"/>
          <a:ext cx="8229600" cy="2160000"/>
        </p:xfrm>
        <a:graphic>
          <a:graphicData uri="http://schemas.openxmlformats.org/drawingml/2006/table">
            <a:tbl>
              <a:tblPr/>
              <a:tblGrid>
                <a:gridCol w="1700000"/>
                <a:gridCol w="4100000"/>
                <a:gridCol w="2429600"/>
              </a:tblGrid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Tools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Usage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Mapping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Maltego, i2, Gephi, NetworkX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Entity/relationship graph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Cases / inquiry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Aleph (OCCRP), Hunchly, TheHive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Capture &amp; sharing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ACH matrices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PARC ACH, Open-ACH, sheet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Hypothesis diagnostics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Timeline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Timesketch, Aeon Timeline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Timeline reconstruction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Preservation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Hunchly, hash + timestamp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Provenance / admissibility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188720"/>
            <a:ext cx="2743200" cy="1828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4000" b="1" i="0">
                <a:solidFill>
                  <a:srgbClr val="F3F4F6"/>
                </a:solidFill>
                <a:latin typeface="Arial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73736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6B7280"/>
                </a:solidFill>
                <a:latin typeface="Arial"/>
              </a:rPr>
              <a:t>SEQUENCE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057400"/>
            <a:ext cx="5486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800" b="1" i="0">
                <a:solidFill>
                  <a:srgbClr val="1F2937"/>
                </a:solidFill>
                <a:latin typeface="Arial"/>
              </a:rPr>
              <a:t>Verifying disinformation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063240"/>
            <a:ext cx="731520" cy="36576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320040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E40AF"/>
                </a:solidFill>
                <a:latin typeface="Arial"/>
              </a:rPr>
              <a:t>Duration: ~1h30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Typology (information disorder)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Three categories (Wardle's typology) — intent and veracity vary.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294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294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MIS-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no intent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false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honest mistake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0410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36042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042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6042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DIS-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5186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with intent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5186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false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intent to harm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0158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05790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5790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5790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MAL-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true, out of context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real info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out of context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CONSEQUENCE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The response differs: correct an error, counter an operation, recontextualise a leak.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Fact-checking 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Six reproducible steps.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Isolate the checkable claim (separate fact from opinion).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Trace to the primary source (cf. circular reporting, Seq. 1).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Authenticate associated media (sequence 1).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Cross-check against independent sources.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Contextualise: dates, places, full quotations.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Conclude: a graded, sourced verdict (true / misleading / false / unverifiable).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Coordinated inauthentic behaviour (CIB)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Modern disinformation is operationalised: networks of accounts.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Temporal synchronisation of posts (same minutes).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Near-duplicate content (copy-paste, slight variants).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Shell accounts: mass-created, little history, stolen/generic photos.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Artificial amplification: non-organic spikes, amplification networks.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Shared technical footprint: same shorteners, infra, time zones.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METHOD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Detecting CIB = network analysis (graph, seq. 1) + timing analysis + content similarity.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Narrative analysis &amp; tools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Beyond true/false: understanding the operation.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3990000" cy="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1E40AF"/>
                </a:solidFill>
                <a:latin typeface="Arial"/>
              </a:rPr>
              <a:t>INFLUENCE ANALYSIS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67360"/>
            <a:ext cx="3990000" cy="223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Which narrative is pushed?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Aimed at whom?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Via which channels?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Origin → relays → amplifiers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97200" y="1837360"/>
            <a:ext cx="3990000" cy="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1E40AF"/>
                </a:solidFill>
                <a:latin typeface="Arial"/>
              </a:rPr>
              <a:t>TOOLKIT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97200" y="2167360"/>
            <a:ext cx="3990000" cy="223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FotoForensics, Forensically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InVID/WeVerify, exiftool, ffprobe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Reverse: Google/Yandex/TinEye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Graph: Gephi / NetworkX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Today's cardinal principle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00000"/>
            <a:ext cx="8229600" cy="240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700000"/>
            <a:ext cx="73152" cy="24000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0000" y="1850000"/>
            <a:ext cx="7700000" cy="1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lnSpc>
                <a:spcPct val="115000"/>
              </a:lnSpc>
              <a:buNone/>
            </a:pPr>
            <a:r>
              <a:rPr sz="1500" b="0" i="1">
                <a:solidFill>
                  <a:srgbClr val="1F2937"/>
                </a:solidFill>
                <a:latin typeface="Arial"/>
              </a:rPr>
              <a:t>No single clue is conclusive. Metadata, signal, geo/chrono, provenance and cross-checking converge — or diverge. A media's truth is read in the WEIGHT OF EVIDENCE, never in a single test.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850000"/>
            <a:ext cx="7700000" cy="2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1E40AF"/>
                </a:solidFill>
                <a:latin typeface="Arial"/>
              </a:rPr>
              <a:t>— Weight-of-evidence verification methodology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188720"/>
            <a:ext cx="2743200" cy="1828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4000" b="1" i="0">
                <a:solidFill>
                  <a:srgbClr val="F3F4F6"/>
                </a:solidFill>
                <a:latin typeface="Arial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73736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6B7280"/>
                </a:solidFill>
                <a:latin typeface="Arial"/>
              </a:rPr>
              <a:t>SEQUENCE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057400"/>
            <a:ext cx="5486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800" b="1" i="0">
                <a:solidFill>
                  <a:srgbClr val="1F2937"/>
                </a:solidFill>
                <a:latin typeface="Arial"/>
              </a:rPr>
              <a:t>Image &amp; video forensics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063240"/>
            <a:ext cx="731520" cy="36576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320040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E40AF"/>
                </a:solidFill>
                <a:latin typeface="Arial"/>
              </a:rPr>
              <a:t>Duration: ~2h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An image no longer "proves" much by default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We combine technical forensics and editorial verification.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Trivial editing + synthetic media → no intrinsic evidentiary value.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Each visual = evidence that must be AUTHENTICATED.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Four questions: is it authentic? where's it from? is it true? an influence operation?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VERIFICATION CHAIN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Five questions: provenance · source · date · place · motivation (First Draft / Bellingcat).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Metadata: a first layer, handled with caution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Reference tool: exiftool.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EXIF (device, date, GPS), IPTC (caption/credit), XMP (editing, software).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Social media platforms STRIP most metadata → absence proves nothing.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They're trivially FORGEABLE → an EXIF date is a claim, not proof.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We look for INCONSISTENCIES: date &gt; upload, GPS ≠ place, undeclared software, mismatched thumbnail.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RULE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Metadata points the way; it doesn't conclude. Proof comes from CONVERGENCE.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Signal analysis: detecting manipulation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3994800" cy="130704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73152" cy="13070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00" y="1725920"/>
            <a:ext cx="3744800" cy="2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200" b="1" i="0">
                <a:solidFill>
                  <a:srgbClr val="1E40AF"/>
                </a:solidFill>
                <a:latin typeface="Arial"/>
              </a:rPr>
              <a:t>ELA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00" y="2005920"/>
            <a:ext cx="3744800" cy="887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recompression + difference</a:t>
            </a:r>
          </a:p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edited areas stand out</a:t>
            </a:r>
          </a:p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indicator, not proof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92000" y="1645920"/>
            <a:ext cx="3994800" cy="130704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92000" y="1645920"/>
            <a:ext cx="73152" cy="13070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52000" y="1725920"/>
            <a:ext cx="3744800" cy="2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200" b="1" i="0">
                <a:solidFill>
                  <a:srgbClr val="1E40AF"/>
                </a:solidFill>
                <a:latin typeface="Arial"/>
              </a:rPr>
              <a:t>JPEG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52000" y="2005920"/>
            <a:ext cx="3744800" cy="887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ghosts</a:t>
            </a:r>
          </a:p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misaligned 8×8 grid</a:t>
            </a:r>
          </a:p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quantisation tables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92960"/>
            <a:ext cx="3994800" cy="130704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192960"/>
            <a:ext cx="73152" cy="13070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00" y="3272960"/>
            <a:ext cx="3744800" cy="2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200" b="1" i="0">
                <a:solidFill>
                  <a:srgbClr val="1E40AF"/>
                </a:solidFill>
                <a:latin typeface="Arial"/>
              </a:rPr>
              <a:t>PRNU / sensor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00" y="3552960"/>
            <a:ext cx="3744800" cy="887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sensor noise signature</a:t>
            </a:r>
          </a:p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local absence = insertion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92000" y="3192960"/>
            <a:ext cx="3994800" cy="130704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92000" y="3192960"/>
            <a:ext cx="73152" cy="13070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52000" y="3272960"/>
            <a:ext cx="3744800" cy="2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200" b="1" i="0">
                <a:solidFill>
                  <a:srgbClr val="1E40AF"/>
                </a:solidFill>
                <a:latin typeface="Arial"/>
              </a:rPr>
              <a:t>Clone / splice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52000" y="3552960"/>
            <a:ext cx="3744800" cy="887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copy-move (correlation)</a:t>
            </a:r>
          </a:p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splicing (edges, noise)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Physical coherence: often more telling than the pixel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An inconsistent shadow betrays a montage better than pixel analysis.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Shadows: direction, hardness, converging on a single source.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Reflections: consistent (eyes, glass)?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Perspective &amp; vanishing points: plausible geometry?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Lighting: does the light tell a coherent story?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TIP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The sun's position (SunCalc) links shadows, time and date: a tool for coherence AND chronolocation.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Synthetic media: deepfakes &amp; generation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Artefacts fade fast — detection ages quickly.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Types: face swap/reenactment, full synthesis (diffusion), cloned voice, lip-sync.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Visual artefacts: face boundaries, blinking, corneal reflections, odd hands.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Temporal artefacts (video): flicker, lip/audio desync, unstable cuts.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Frequency artefacts: GAN/diffusion signatures in the Fourier domain.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991B1B"/>
                </a:solidFill>
                <a:latin typeface="Arial"/>
              </a:rPr>
              <a:t>WARNING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Automated deepfake detectors are not robust. Never alone: provenance + cross-checking matter most.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Cryptographic provenance: C2PA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C2PA / Content Credentials: the structural answer to the authenticity problem.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294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294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CAPTURE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signature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signed manifest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at capture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0410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36042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042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6042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EDITING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5186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log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5186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every edit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logged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0158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05790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5790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5790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CHECK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Content Credentials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valid manifest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= strong indication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KEY POINT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Valid manifest = strong indication. Absence ≠ fake, but removes a safeguard. Check when available.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Geolocation &amp; chronolocation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Extract the clues, then correlate them with open references.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3990000" cy="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1E40AF"/>
                </a:solidFill>
                <a:latin typeface="Arial"/>
              </a:rPr>
              <a:t>GEOLOCATE (WHERE?)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67360"/>
            <a:ext cx="3990000" cy="223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Clues: signs, language, plates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Architecture, vegetation, terrain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Correlate: satellite, Street View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Shadows → orientation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97200" y="1837360"/>
            <a:ext cx="3990000" cy="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1E40AF"/>
                </a:solidFill>
                <a:latin typeface="Arial"/>
              </a:rPr>
              <a:t>CHRONOLOCATE (WHEN?)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97200" y="2167360"/>
            <a:ext cx="3990000" cy="223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Sun position (SunCalc)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Seasonal / weather clues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Datable events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Shadow time = claimed time?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The dominant lie: recontextualisation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The verifier's reflex #1.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It's often not a fake: a REAL image attributed to another place/time.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Reverse image: Google, Yandex (often superior), TinEye (precedence), Bing.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Finding the FIRST occurrence → debunks false attribution.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Video: extract keyframes, then reverse each 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VIDEO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No reliable native video reverse search: split into keyframes (ffmpeg), search image by image.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Video forensics: key commands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Container, keyframes, cuts, audio/video coherence.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8229600" cy="236000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920240"/>
            <a:ext cx="7955280" cy="2177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Container metadata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ffprobe clip.mp4 ; mediainfo clip.mp4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/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Extract keyframes (1 fps) for reverse + inspection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ffmpeg -i clip.mp4 -vf fps=1 frames/kf_%03d.png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/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Detect scene changes (cuts)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ffmpeg -i clip.mp4 -vf "select=gt(scene,0.4),showinfo" -f null -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/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Reference suite: InVID / WeVerify (browser extension)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INVID/WEVERIFY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Fragmentation, analysis loupe, built-in reverse, metadata reading, account verification.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188720"/>
            <a:ext cx="2743200" cy="1828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4000" b="1" i="0">
                <a:solidFill>
                  <a:srgbClr val="F3F4F6"/>
                </a:solidFill>
                <a:latin typeface="Arial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73736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6B7280"/>
                </a:solidFill>
                <a:latin typeface="Arial"/>
              </a:rPr>
              <a:t>HANDS-ON 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057400"/>
            <a:ext cx="5486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800" b="1" i="0">
                <a:solidFill>
                  <a:srgbClr val="1F2937"/>
                </a:solidFill>
                <a:latin typeface="Arial"/>
              </a:rPr>
              <a:t>Authenticate &amp; dismantle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063240"/>
            <a:ext cx="731520" cy="36576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320040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E40AF"/>
                </a:solidFill>
                <a:latin typeface="Arial"/>
              </a:rPr>
              <a:t>Afternoon: 3h30 hands-on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LAB — AFTERNOON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Afternoon workshops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Five workshops, from file to campaign.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960000"/>
          <a:ext cx="8229600" cy="2160000"/>
        </p:xfrm>
        <a:graphic>
          <a:graphicData uri="http://schemas.openxmlformats.org/drawingml/2006/table">
            <a:tbl>
              <a:tblPr/>
              <a:tblGrid>
                <a:gridCol w="1100000"/>
                <a:gridCol w="5400000"/>
                <a:gridCol w="1729600"/>
              </a:tblGrid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Session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Time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Metadata &amp; structure (exiftool, thumbnail)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30 min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Signal: ELA + physical coherence (shadows)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40 min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Recontextualisation &amp; provenance (reverse, C2PA)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35 min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Video forensics (keyframes, cuts)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35 min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E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Coordinated behaviour (CIB)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40 min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LAB — WORKSHOPS A/B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Authenticating an image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Critical metadata + ELA.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8229600" cy="236000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920240"/>
            <a:ext cx="7955280" cy="2177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Metadata + sensitive fields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exiftool -a -G1 image.jpg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exiftool -GPS:All -DateTimeOriginal -Software -Model image.jpg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/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Embedded thumbnail vs visible image (cropping/montage)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exiftool -b -ThumbnailImage image.jpg &gt; thumb.jpg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/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Custom ELA (Python): recompression + amplified difference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PIL: ImageChops.difference(orig, recompressed)  -&gt; suspicious zones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READ WITH CAUTION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Missing metadata ≠ fake; ELA is an indicator. Conclude by convergence.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LAB — WORKSHOP 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Detecting CIB (Python)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Synchronisation, bursts, duplication, then amplification graph.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8229600" cy="236000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920240"/>
            <a:ext cx="7955280" cy="2177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import pandas as pd, difflib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df = pd.read_csv("accounts.csv")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df["ts"] = pd.to_datetime(df["timestamp"], utc=True)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/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Creation burst + post synchronisation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df["creation_date"].value_counts().head()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df.groupby(df["ts"].dt.floor("min")).size().sort_values(ascending=False).head()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/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Near-duplicate text (similarity &gt; 0.85)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difflib.SequenceMatcher(None, t_i, t_j).ratio()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NEXT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Map the amplification network (Gephi/NetworkX): who starts it, who relays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LAB — AFTERNOON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Deliverable: verification note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A structured, sourced, auditable note.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Graded verdict: authentic / misleading / manipulated / synthetic / unverifiable.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Provenance: first occurrence, source, archiving (URL + hash + UTC).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Metadata, signal, geo/chrono, context — each documented.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If relevant: CIB indicators and amplification network.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Conclusion based on the WEIGHT OF EVIDENCE, not one clue.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Day 2 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End-of-day quiz to follow.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 visual has no evidentiary value by default: it must be authenticated.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Chain: provenance, source, date, place, motivation.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Metadata and ELA point the way; reason by convergence.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Deepfakes: prioritise provenance (C2PA) and cross-checking.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The dominant lie is recontextualisation → reverse image.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Disinformation: isolate, source, detect CIB through network analysis.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5803D"/>
                </a:solidFill>
                <a:latin typeface="Arial"/>
              </a:rPr>
              <a:t>NEXT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Day 3 — Dark web, crypto tracing &amp; endpoint forensics (memory analysis).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