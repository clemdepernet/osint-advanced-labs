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720" y="548640"/>
            <a:ext cx="838200" cy="838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188720"/>
            <a:ext cx="80467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6B7280"/>
                </a:solidFill>
                <a:latin typeface="Arial"/>
              </a:rPr>
              <a:t>FORENSICS &amp; OSINT ADVANCED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04672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3600" b="1" i="0">
                <a:solidFill>
                  <a:srgbClr val="1F2937"/>
                </a:solidFill>
                <a:latin typeface="Arial"/>
              </a:rPr>
              <a:t>Day 1 — Operational security &amp;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8046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800" b="0" i="1">
                <a:solidFill>
                  <a:srgbClr val="1E40AF"/>
                </a:solidFill>
                <a:latin typeface="Arial"/>
              </a:rPr>
              <a:t>OPSEC · Anonymisation · Scraping &amp; APIs · Pipelines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109728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8046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200" b="0" i="0">
                <a:solidFill>
                  <a:srgbClr val="6B7280"/>
                </a:solidFill>
                <a:latin typeface="Arial"/>
              </a:rPr>
              <a:t>Morning: in-depth theory  —  Afternoon: hands-on 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86300"/>
            <a:ext cx="8046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Learning objectives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By the end of this day, participants will be able to: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Model the threat facing the investigator (threat model).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Implement operational security (OPSEC) proportionate to the threat.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Build compartmentalised, credible research personas.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Isolate their footprint (VM, anti-fingerprint browser, network exit).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Choose between scraping and an API, and build a reproducible collector.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Handle rate limiting, pagination and the OPSEC of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Running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Digging deep AND staying protected: inseparable.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60000"/>
          <a:ext cx="8229600" cy="1800000"/>
        </p:xfrm>
        <a:graphic>
          <a:graphicData uri="http://schemas.openxmlformats.org/drawingml/2006/table">
            <a:tbl>
              <a:tblPr/>
              <a:tblGrid>
                <a:gridCol w="1600000"/>
                <a:gridCol w="4900000"/>
                <a:gridCol w="17296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Slot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Content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Morning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Threat model, OPSEC, personas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Theory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Morning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Anonymity, fingerprinting, VPN/Tor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Theory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Afternoon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Automation &amp; scraping basics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Lab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Afternoon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APIs, pipelines, OPSEC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Lab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Operational security (OPSEC)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~1h45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Model the threat BEFORE you collect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Four questions that calibrate the whole approach.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Who am I protecting against? (opportunist, organised group, state).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What must I protect? (identity, existence of the inquiry, methods).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What are the consequences of compromise? (dormant target, retaliation).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How much effort will the adversary invest?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GUIDING PRINCIPLE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OPSEC isn't binary: it is PROPORTIONATE to the threat. Trade-offs made explicit and documented.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The OPSEC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Five-step model: critical info → threats → vulnerabilities → risk → countermeasures.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IDENTIFY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critical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what would leak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the case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410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6042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042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042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ANALYSE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186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threats &amp; vulns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who's looking?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where's the leak?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158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5790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790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790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COUNTER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countermeasures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isolation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anonymisation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Risk = probability × impact. Address high-impact vulnerabilities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Three attribution postures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Non-attribution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nothing ties to investigator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passive browsing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burner infra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20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20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20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Managed attribution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20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built &amp; plausible persona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consistent with target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managed attribution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Attribution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acting openly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official channels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rare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20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20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20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Pick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20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depends on threat model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and legal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Building a credible persona (sock puppet)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A persona isn't a fake name: it's a consistent, aged identity.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Socio-cultural fit: language, timezone, interests, history.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Age matters: an aged account, activity spread out — a brand-new one looks suspect.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Strict compartmentalisation: 1 persona = 1 email / number / browser / IP / footprint.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Non-reusable photo (reverse image = instant discovery).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Behavioural discipline: hours, writing style, typos — everything is a signal.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991B1B"/>
                </a:solidFill>
                <a:latin typeface="Arial"/>
              </a:rPr>
              <a:t>FATAL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Logging into a persona from your real IP, or reusing an email/number/password. Correlation happens at the weakest link.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Legal &amp; ethical 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Technical capability doesn't authorise action: the law comes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Creating personas and infiltrating are REGULATED (jurisdiction + status).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Law enforcement: procedural rules, no entrapment allowed.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Private sector: never cross into unauthorised system access.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Validate the legal perimeter BEFORE acting, not after.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VALIDATE UP FRONT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Entrapment, impersonation, unauthorised access: red zones needing legal cover.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Anonymity &amp;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~45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The browser: the investigator's biggest traitor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Fingerprinting defeats anonymity based on IP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Beyond IP: User-Agent, resolution, timezone, language, fonts.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Canvas/WebGL rendering, audio context: often a UNIQUE fingerprint.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 VPN hides the IP but NOT the fingerprint.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An advanced adversary correlates sessions via fingerprint.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PARRY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Tor Browser standardises the fingerprint; otherwise a VM + anti-detection browser per persona.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VPN vs Tor vs proxies: choosing the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The choice follows the threat model — no one-size-fits-all.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60000"/>
          <a:ext cx="8229600" cy="1800000"/>
        </p:xfrm>
        <a:graphic>
          <a:graphicData uri="http://schemas.openxmlformats.org/drawingml/2006/table">
            <a:tbl>
              <a:tblPr/>
              <a:tblGrid>
                <a:gridCol w="1900000"/>
                <a:gridCol w="2400000"/>
                <a:gridCol w="2200000"/>
                <a:gridCol w="17296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Trust required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Detectable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Typical use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Commercial VPN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Provider (logs?)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Yes (known ranges)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Comfort, light geo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Tor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Distributed net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Yes (public exit nodes)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Strong anonymity .onion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Residential proxy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Provider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Difficult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Blending in / anti-block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VPN → Tor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Mixed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High threat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Isolation strategies (compartmentalisation)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Burner VMs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1 VM / persona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restored from snapshot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Qubes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20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20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20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Browsers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20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Tor Browser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Multi-Account Containers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anti-detection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1 exit / identity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Dedicated VPN/Tor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20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20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20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Discipline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20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never personal accounts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inside the case setup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Python for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~1h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Automating to scale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The machine collects and normalises; the human judges and decides.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Automating = making collection reproducible, traceable, scalable.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It isn't about "saving time": it's about freeing the analyst for judgement.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Poorly designed automation amplifies errors and OPSEC leaks.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The OPSEC discipline from this morning applies to code too.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Automate the deterministic part of the cycle (collection, processing, monitoring), never judgement.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Essential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HTTP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requests / httpx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httpx: async + HTTP/2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20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20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20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Parsing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20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BeautifulSoup / lxml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Scrapy (industrial)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Browser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Selenium / Playwright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JS-rendered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20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20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20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20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pandas (cleaning, joining)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re (regex / selectors)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Scraping vs API: choosing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Prefer the API when it exists; scrape only as a last resort.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60000"/>
          <a:ext cx="8229600" cy="1800000"/>
        </p:xfrm>
        <a:graphic>
          <a:graphicData uri="http://schemas.openxmlformats.org/drawingml/2006/table">
            <a:tbl>
              <a:tblPr/>
              <a:tblGrid>
                <a:gridCol w="1700000"/>
                <a:gridCol w="3000000"/>
                <a:gridCol w="35296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API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Scraping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Stability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High (contract)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Fragile (HTML changes)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Legality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Governed by ToS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Grey area (ToS/robots.txt)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Structured (JSON)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To extract / clean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Effort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High (maintenance)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Ethics &amp; scraping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Aggressive scraping is both a legal risk AND an OPSEC signal.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Respect robots.txt and the terms of use.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Throttle requests (delays, backoff) — don't degrade the target service.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Don't bypass authentication; identify yourself when required.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Collect only what's needed and proportionate (minimisation, GDPR for personal data).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WARNING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Scraping too fast gets you blocked and screams bot behaviour.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Working with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~1h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REST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An API's contract: URL + verb + status + headers + body.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Resources exposed via URLs and HTTP verbs (GET, POST…).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Usually a JSON response.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Read the status CODE: 200, 401, 403, 429, 5xx.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Read the HEADERS: rate limit remaining, pagination.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Read the BODY: the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Three mechanisms, service-dependent.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API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most common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header or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parameter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410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6042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042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042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BEARER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186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token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Authorization: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Bearer ...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158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5790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790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790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OAUTH 2.0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social networks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access/refresh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991B1B"/>
                </a:solidFill>
                <a:latin typeface="Arial"/>
              </a:rPr>
              <a:t>CODE OPSEC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Keys are NEVER hard-coded or committed. Use environment variables / a secrets manager. A leaked key means attribution.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Rate limiting &amp; pagination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Using an API properly means respecting its limits.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429 Too Many Requests: respect Retry-After, exponential backoff.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Pagination: page / cursor / offset or Link headers — iterate until exhausted.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Idempotence &amp; caching: avoid re-downloading.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Keep a timestamped copy (provenance, Day 1).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Essential OSINT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Postman/Insomnia: explore an API before automating.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3994800" cy="1211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37360"/>
            <a:ext cx="73152" cy="1211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00" y="19173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00" y="2197360"/>
            <a:ext cx="3744800" cy="791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Shodan, Censys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SecurityTrails (DNS)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92000" y="1837360"/>
            <a:ext cx="3994800" cy="1211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92000" y="1837360"/>
            <a:ext cx="73152" cy="1211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52000" y="19173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Reputation / IOC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2000" y="2197360"/>
            <a:ext cx="3744800" cy="791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VirusTotal, GreyNoise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AbuseIPDB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88680"/>
            <a:ext cx="3994800" cy="1211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88680"/>
            <a:ext cx="73152" cy="1211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00" y="336868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Identity / leaks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00" y="3648680"/>
            <a:ext cx="3744800" cy="791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Have I Been Pwned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92000" y="3288680"/>
            <a:ext cx="3994800" cy="1211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92000" y="3288680"/>
            <a:ext cx="73152" cy="1211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52000" y="336868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Open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2000" y="3648680"/>
            <a:ext cx="3744800" cy="791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OpenCorporates, Wikidata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Wayback (CDX)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Automation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~1h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OSINT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Four stages: collection → normalisation → enrichment → storage/output.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COLLECT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collectors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1 module / source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fault-tolerant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410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6042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042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042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NORMALISE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186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common 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entities, UTC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provenance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158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5790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790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790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STORE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+ delivers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database/graph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alerts,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ENRICHMENT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Between normalisation and storage: automatic pivoting, deduplication, Admiralty scoring.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Design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Five traits of a robust pipeline.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Modularity: each collector isolated, testable, replaceable.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Idempotence: rerunning doesn't duplicate (natural key, hash).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Fault tolerance: one source failing shouldn't break everything.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Traceability: every record carries source + timestamp + hash.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Observability: log, measure, alert on anomalies.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ANTI-PATTERN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The "dashboard that looks complete": a silently blocked source = false completeness. Always surface failures.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Scheduling &amp;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From ad hoc script to continuous monitor.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SCHEDULING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cron / scheduler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Queue for large volumes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Decouple collection, 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Detect CHANGES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page diff, new subdomain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new transaction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alert (email, webhook)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OPSEC of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The OPSEC discipline from earlier today applies fully to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IP/proxy rotation consistent with the persona (from earlier); don't mass-expose your IP.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Human cadence: smooth and randomise delays (don't look like a bot).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Compartmentalise keys and identities per case.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Minimisation: store only what's needed, encrypt, manage retention.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Automation &amp; judgement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00000"/>
            <a:ext cx="8229600" cy="24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00000"/>
            <a:ext cx="73152" cy="2400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0000" y="1850000"/>
            <a:ext cx="7700000" cy="1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lnSpc>
                <a:spcPct val="115000"/>
              </a:lnSpc>
              <a:buNone/>
            </a:pPr>
            <a:r>
              <a:rPr sz="1500" b="0" i="1">
                <a:solidFill>
                  <a:srgbClr val="1F2937"/>
                </a:solidFill>
                <a:latin typeface="Arial"/>
              </a:rPr>
              <a:t>A pipeline that monitors continuously feeds the monitoring indicators defined in an intelligence requirement. The machine proposes — extraction, classification, translation — but the analyst validates. Every automated result inherits the same requirements for provenance and confidence level.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850000"/>
            <a:ext cx="7700000" cy="2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— From automation to augmented analysis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HANDS-ON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Hardened environment &amp; pivoting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Afternoon: 3h30 hands-on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LAB — AFTERNOON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Afternoon workshops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From hardening infrastructure to operational pivoting.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60000"/>
          <a:ext cx="8229600" cy="1800000"/>
        </p:xfrm>
        <a:graphic>
          <a:graphicData uri="http://schemas.openxmlformats.org/drawingml/2006/table">
            <a:tbl>
              <a:tblPr/>
              <a:tblGrid>
                <a:gridCol w="1100000"/>
                <a:gridCol w="5400000"/>
                <a:gridCol w="17296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Lab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Build the hardened VM (snapshot, UTC, network exit, footprint)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75 min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Create &amp; age a persona + anti-correlation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30 min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Controlled OSINT pivoting (handle, email, domain, analytics)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75 min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Authorised dorking + archiving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20 min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LAB — WORKSHOP 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Harden the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Compartmenting, anti-leak, network exit.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2360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7955280" cy="2177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Clean snapshot before any activity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VBoxManage snapshot "OSINT-VM" take "clean-baseline"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Lock the timezone to UTC (don't reveal your location)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sudo timedatectl set-timezone UTC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Strip metadata from a file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exiftool -all= -overwrite_original file.jpg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Check the exit point (via Tor)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curl --socks5-hostname 127.0.0.1:9050 https://ifconfig.me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AUTO-OSINT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Test your footprint (amiunique / coveryourtracks): it must be neither unique nor reveal real language/timezone.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LAB — WORKSHOP 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Multi-selector pivoting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Start from a selector, expand the graph.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2360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7955280" cy="2177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Handle across hundreds of platforms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sherlock target_pseudo --print-found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maigret target_pseudo --html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Email: services it's registered with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holehe target@example.tld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Domain: TLS certs -&gt; subdomains &amp; related infra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curl -s "https://crt.sh/?q=%25.target.tld&amp;output=json"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subfinder -d target.tld -silent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Analytics shared across sites (common operator)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curl -s https://target.tld | grep -Eo "(UA-[0-9]+-[0-9]+|G-[A-Z0-9]+|ca-pub-[0-9]+)"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CONSOLIDATION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Log every entity in the graph with a confidence level per hop.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LAB — AFTERNOON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Deliverables &amp;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Four deliverables — infrastructure, identity, intelligence, rationale.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Environment report: snapshot, UTC, network exit, tested footprint.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Persona sheet(s) with anti-correlation check.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Enriched pivot graph (entities, relations, confidence).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OPSEC note: chosen threat model and rationale for the protection level.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Day 1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End-of-day quiz to follow.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Threat model first: OPSEC proportionate to the adversary.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Managed attribution: consistent, aged, strictly compartmentalised personas.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Fingerprinting betrays what VPNs protect: isolate via VM + browser.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Automate collection, not judgement: reproducible, traceable pipelines.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Respect rate limits and OPSEC, even when code does the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5803D"/>
                </a:solidFill>
                <a:latin typeface="Arial"/>
              </a:rPr>
              <a:t>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Day 3 — Media forensics (images/video) &amp; disinformation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