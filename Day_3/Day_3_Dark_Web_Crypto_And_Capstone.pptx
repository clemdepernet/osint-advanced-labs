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281" r:id="rId3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32" Type="http://schemas.openxmlformats.org/officeDocument/2006/relationships/slide" Target="slides/slide30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514350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5720" y="548640"/>
            <a:ext cx="838200" cy="838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0080" y="1188720"/>
            <a:ext cx="80467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1" i="0">
                <a:solidFill>
                  <a:srgbClr val="6B7280"/>
                </a:solidFill>
                <a:latin typeface="Arial"/>
              </a:rPr>
              <a:t>FORENSICS &amp; OSINT ADVANCED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804672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3600" b="1" i="0">
                <a:solidFill>
                  <a:srgbClr val="1F2937"/>
                </a:solidFill>
                <a:latin typeface="Arial"/>
              </a:rPr>
              <a:t>Day 3 — Dark web, crypto tracing &amp; the final investigation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97480"/>
            <a:ext cx="804672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800" b="0" i="1">
                <a:solidFill>
                  <a:srgbClr val="1E40AF"/>
                </a:solidFill>
                <a:latin typeface="Arial"/>
              </a:rPr>
              <a:t>Dark web (brief) - Blockchain tracing - STIX, ATT&amp;CK &amp; 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29000"/>
            <a:ext cx="109728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3566160"/>
            <a:ext cx="80467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200" b="0" i="0">
                <a:solidFill>
                  <a:srgbClr val="6B7280"/>
                </a:solidFill>
                <a:latin typeface="Arial"/>
              </a:rPr>
              <a:t>Morning: in-depth theory  —  Afternoon: hands-on practice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86300"/>
            <a:ext cx="80467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Learning objectives — Day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By the end of this day, participants will be able to: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Access and investigate the dark web safely, and know where it leaks.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Explain how a blockchain works: keys, addresses, transactions, ledger models.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Trace crypto assets: clustering, obfuscation and chokepoints to identity.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Structure intelligence with STIX 2.1 (SDO/SCO/SRO), TLP and confidence.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Map Admiralty and provenance onto STIX; use MITRE ATT&amp;CK.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Automate OSINT into a shared threat graph with pipelines and parallel agents.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SCHEDULE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Running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Three sequences in a single investigation chain.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960000"/>
          <a:ext cx="8229600" cy="1800000"/>
        </p:xfrm>
        <a:graphic>
          <a:graphicData uri="http://schemas.openxmlformats.org/drawingml/2006/table">
            <a:tbl>
              <a:tblPr/>
              <a:tblGrid>
                <a:gridCol w="1600000"/>
                <a:gridCol w="4900000"/>
                <a:gridCol w="1729600"/>
              </a:tblGrid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Slot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Content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76200" marR="76200" marT="45720" marB="45720" anchor="ctr">
                    <a:solidFill>
                      <a:srgbClr val="1E40A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Dark web (brief); blockchain &amp; crypto tracing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Morning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Structured intelligence: STIX, ATT&amp;CK, automation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Theory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Data Breach + Crypto Investigation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3F4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Afternoon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STIX Lab: build &amp; automate a threat graph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2937"/>
                          </a:solidFill>
                          <a:latin typeface="Arial"/>
                        </a:rPr>
                        <a:t>Lab</a:t>
                      </a:r>
                    </a:p>
                  </a:txBody>
                  <a:tcPr marL="76200" marR="7620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The dark web (in brief)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~20 min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Surface, deep, dark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The deep web (the vast majority) is NOT the dark web.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294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294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SURFACE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438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listed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engines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public web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0410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36042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042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042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DEEP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186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not indexed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5186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intranets, DBs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≠ dark web!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801580" y="2514600"/>
            <a:ext cx="238320" cy="0"/>
          </a:xfrm>
          <a:prstGeom prst="bentConnector3">
            <a:avLst/>
          </a:prstGeom>
          <a:ln w="1587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6057900" y="1965960"/>
            <a:ext cx="242316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57900" y="1965960"/>
            <a:ext cx="2423160" cy="3657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57900" y="2011680"/>
            <a:ext cx="24231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Arial"/>
              </a:rPr>
              <a:t>DARK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49340" y="2423160"/>
            <a:ext cx="224028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ctr">
              <a:buNone/>
            </a:pPr>
            <a:r>
              <a:rPr sz="1100" b="0" i="1">
                <a:solidFill>
                  <a:srgbClr val="6B7280"/>
                </a:solidFill>
                <a:latin typeface="Arial"/>
              </a:rPr>
              <a:t>needs software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2651760"/>
            <a:ext cx="2240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Tor, I2P, Freenet</a:t>
            </a:r>
          </a:p>
          <a:p>
            <a:pPr algn="ctr">
              <a:buNone/>
            </a:pPr>
            <a:r>
              <a:rPr sz="1050" b="0" i="0">
                <a:solidFill>
                  <a:srgbClr val="1F2937"/>
                </a:solidFill>
                <a:latin typeface="Arial"/>
              </a:rPr>
              <a:t>anonymous services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REMEMBER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The deep web = content that's not indexed but accessible. The dark web needs specific software.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Tor &amp; onion routing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Tor anonymises TRANSPORT.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Three relays (guard / middle / exit): none knows both origin AND destination.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Layered encryption (“onion”) at every hop.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Hidden .onion v3 services (56 characters): never exit in the clear.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Client and service meet at a rendezvous point, without revealing their IPs.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KEY LIMITATION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Tor does not anonymise BEHAVIOUR. Deanonymisation comes from operational error, not a flaw in 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Blockchain &amp; cryptocurrency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What is a cryptocurrency?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Digital value transferred and recorded without a central authority.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unit of value recorded on a public ledger, not by a bank.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Ownership is proven by cryptography, not by an account name.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Anyone can read the ledger; no one can silently rewrite it.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Bitcoin, Ethereum, Solana differ in speed, model and programmability.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KEY IDEA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Trust moves from an institution to maths and a shared, append-only ledger.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The blockchain, concretely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An append-only chain of blocks, each sealed by the previous block's hash.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Transactions are grouped into blocks; each block references the previous hash.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Change any past transaction and every later hash breaks - tamper-evident.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consensus rule (proof-of-work / proof-of-stake) picks the next valid block.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result: a distributed, immutable, publicly auditable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WHY IT MATTERS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Immutability + public read = a source you can trace end to end.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Keys, pairs &amp; addresses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 key pair is the identity; the address is its public fingerprint.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 private key signs transactions; it IS control of the funds - keep it secret.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public key is derived from it; you cannot go back to the private key.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An address is a short hash of the public key - what you share to receive funds.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One entity holds many addresses; linking them is the tracer's core task.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PIVOT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Addresses are pseudonymous, not anonymous. Clustering re-links them to one 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Transactions: two ledger 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Two ways the ledger records who owns what.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UTXO model (Bitcoin): coins are discrete 'unspent outputs', consumed and re-created.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Account model (Ethereum, Solana): balances per address, like bank accounts.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Each transaction is signed, timestamped and permanently visible.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Inputs and outputs are the edges you follow when tracing money.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TRACING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Follow the outputs: every hop is on-chain, forever, for anyone to read.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Querying a chain automatically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Explorers for a look; APIs and RPC to automate.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Explorers (human): Solscan, Etherscan, Blockchair, DexScreener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Token metadata + trading pairs (DexScreener REST, keyless)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curl -s "https://api.dexscreener.com/latest/dex/tokens/&lt;MINT&gt;" | jq '.pairs[0]'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Ethereum balance via JSON-RPC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curl -s -X POST https://rpc.ankr.com/eth -H "content-type: application/json" \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-d '{"jsonrpc":"2.0","method":"eth_getBalance","params":["0xADDR","latest"],"id":1}'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6B7280"/>
                </a:solidFill>
                <a:latin typeface="Consolas"/>
              </a:rPr>
              <a:t># Python: iterate transactions -&gt; build an address graph (networkx)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AUTOMATE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Same discipline as Day 1: paginate, rate-limit, store with provenance.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Tracing crypto assets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~45 min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The myth of anonymity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Pseudonymous, not anonymous - and permanent.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Every transaction is public and never deleted.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Addresses are pseudonyms; behaviour and reuse leak the person behind them.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Analytics firms (Chainalysis, TRM) industrialise this re-linking.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chain remembers mistakes forever - time favours the investigator.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MINDSET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Assume every on-chain move is a permanent, public clue.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Clustering heuristics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Grouping many addresses under one controlling entity.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Common-input heuristic: inputs spent together are usually one owner.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Change-address detection: spot the wallet's own change output.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Behavioural patterns: timing, amounts, reused deposit addresses.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Off-chain tags: exchange addresses, public donation addresses, labels.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CAUTION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Heuristics are probabilistic. Rate each link (Admiralty), never assume.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Obfuscation techniques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How actors try to break the trail - and its limits.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Mixers / tumblers: pool and re-emit funds to sever the link.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Cross-chain bridges &amp; chain-hopping: move value between blockchains.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Privacy coins (Monero, Zcash): cryptographically hide amounts/parties.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Peel chains: many small hops to blur one large transfer.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REALITY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Obfuscation raises cost, rarely gives perfection. Entry/exit points still leak.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Chokepoints - where pseudonymity breaks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The contact points with the regulated world.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Centralised exchanges (KYC): fiat on/off ramps tie an address to an identity.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Bridges, OTC desks, payment processors: logged and subpoena-able.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Addresses posted publicly (forums, donations, social profiles).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IP / device leaks when interacting with a service.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LEVERAGE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Follow the money to a chokepoint; that is where a name appears.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Structured intelligence: STIX &amp; ATT&amp;CK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~1h15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From notes to a shared graph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An investigation is a graph, not a pile of screenshots.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Loose notes don't scale, don't share, and can't be queried.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Model entities and their relationships once, reuse everywhere.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Machine-readable = automatable, auditable and interoperable.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STIX 2.1 (OASIS) is the open standard; TAXII moves it between tools.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SHIFT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Stop writing reports only humans read. Produce a graph machines share.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STIX: the three families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Everything is an object; objects link into a graph.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SDO - Domain Objects: entities (threat-actor, identity, malware, indicator, report).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SCO - Cyber-observables: facts (domain-name, ipv4-addr, file, email-addr).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SRO - Relationship Objects: the links (relationship, sighting).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Every object has an id, timestamps, confidence and a TLP marking.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Nodes (SDO/SCO) + typed edges (SRO) = your case as a queryable graph.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 STIX bundle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One JSON document; each object typed and linked.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8229600" cy="2360000"/>
          </a:xfrm>
          <a:prstGeom prst="rect">
            <a:avLst/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920240"/>
            <a:ext cx="7955280" cy="2177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{ "type": "indicator", "spec_version": "2.1",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"id": "indicator--...", "pattern_type": "stix",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"pattern": "[domain-name:value = 'aeroparts-hr-portal.com']",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"confidence": 80, "object_marking_refs": ["...tlp-amber"] }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{ "type": "relationship", "relationship_type": "indicates",</a:t>
            </a:r>
          </a:p>
          <a:p>
            <a:pPr algn="l">
              <a:lnSpc>
                <a:spcPct val="102000"/>
              </a:lnSpc>
              <a:buNone/>
            </a:pPr>
            <a:r>
              <a:rPr sz="1050" b="0" i="0">
                <a:solidFill>
                  <a:srgbClr val="1F2937"/>
                </a:solidFill>
                <a:latin typeface="Consolas"/>
              </a:rPr>
              <a:t>  "source_ref": "indicator--...", "target_ref": "threat-actor--..." }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E40AF"/>
                </a:solidFill>
                <a:latin typeface="Arial"/>
              </a:rPr>
              <a:t>TOOLING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Build it with the Python stix2 library - see the STIX Lab.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TLP &amp; confidence - sharing and trust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Every object says how far it travels and how sure you 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TLP (Traffic Light Protocol): CLEAR / GREEN / AMBER / RED sharing rules.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confidence (0-100): the analyst's certainty, carried on the object.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created_by_ref + timestamps: provenance built in.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Markings travel with the data, wherever it is shared.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DISCIPLINE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Never share above the TLP. Never state a fact above its confidence.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STIX and Admiralty &amp; provenance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Day 2's rating, expressed in STIX.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Source reliability (A-F) + info credibility (1-6) map onto confidence + Opinion.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Opinion objects record analyst agreement/disagreement, with an explanation.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Note objects carry provenance: URL, UTC, SHA-256 of the evidence.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rating travels with the finding, auditable by anyone downstream.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CONTINUITY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Admiralty (Day 2) + chain of custody (Day 1) become native STIX fields.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MITRE ATT&amp;CK + the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Shared vocabulary and the platforms that speak STIX.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MITRE ATT&amp;CK: a catalogue of adversary techniques, published as STIX.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Reference a technique by id (e.g. T1566) via external_references.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OpenCTI &amp; MISP: team platforms that store, link and share STIX graphs.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TAXII: the protocol that exchanges bundles between organisations.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STANDARDS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Speak ATT&amp;CK + STIX and your intelligence is understood everywhere.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Automation &amp; agentic OSINT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Duration: ~45 min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Pipelines, recap &amp;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The machine collects and normalises; the human judges.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Modular collectors, one per source; idempotent and fault-tolerant.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Normalise to a common schema (STIX), with provenance on every record.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Schedule (cron / queue) and monitor for change; alert on what's new.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 Day 1 discipline, now feeding a shared threat graph.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Automate the deterministic cycle - collection, processing, monitoring - never judgement.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SEQUENCE 5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Agentic OSINT: parallel agents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Several specialised agents working at once, converging on STIX.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One agent per job: subdomains, passive DNS, news, enrichment.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They run in parallel, then a writer agent merges into one bundle.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Orchestrate with n8n (visual workflows) or code (concurrent futures).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Output lands in OpenCTI / MISP for the whole team, in near real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FUTURE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Fan out collection, fan in to STIX - a CTI pipeline that scales with the mission.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1188720"/>
            <a:ext cx="2743200" cy="1828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ctr">
              <a:buNone/>
            </a:pPr>
            <a:r>
              <a:rPr sz="14000" b="1" i="0">
                <a:solidFill>
                  <a:srgbClr val="F3F4F6"/>
                </a:solidFill>
                <a:latin typeface="Arial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1737360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100" b="1" i="0">
                <a:solidFill>
                  <a:srgbClr val="6B7280"/>
                </a:solidFill>
                <a:latin typeface="Arial"/>
              </a:rPr>
              <a:t>HANDS-ON LAB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057400"/>
            <a:ext cx="5486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800" b="1" i="0">
                <a:solidFill>
                  <a:srgbClr val="1F2937"/>
                </a:solidFill>
                <a:latin typeface="Arial"/>
              </a:rPr>
              <a:t>The Day 3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063240"/>
            <a:ext cx="731520" cy="36576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E40AF"/>
                </a:solidFill>
                <a:latin typeface="Arial"/>
              </a:rPr>
              <a:t>Afternoon: hands-on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The Day 3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Three hands-on TPs, each producing a sourced, structured deliverable.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Data Breach - analyse a leaked SQL dump read-only (SQLAlchemy + pandas); assess exposure.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Crypto Investigation - trace a token from on-chain identifiers to its footprint.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STIX Lab - turn OSINT findings into a STIX graph; automate with parallel agents.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Deliverable - an Admiralty-rated, provenance-carrying note or bundle per case.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B45309"/>
                </a:solidFill>
                <a:latin typeface="Arial"/>
              </a:rPr>
              <a:t>THREAD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From raw source to a shared, machine-readable graph - the whole Day 3 in one 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sc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"/>
            <a:ext cx="502920" cy="5029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7200" y="256032"/>
            <a:ext cx="76696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6B7280"/>
                </a:solidFill>
                <a:latin typeface="Arial"/>
              </a:rP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475488"/>
            <a:ext cx="822960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2200" b="1" i="0">
                <a:solidFill>
                  <a:srgbClr val="1F2937"/>
                </a:solidFill>
                <a:latin typeface="Arial"/>
              </a:rPr>
              <a:t>Key takeaways from the three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48640" cy="2743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4823460"/>
            <a:ext cx="4572000" cy="228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900" b="0" i="0">
                <a:solidFill>
                  <a:srgbClr val="6B7280"/>
                </a:solidFill>
                <a:latin typeface="Arial"/>
              </a:rPr>
              <a:t>Forensics &amp; OSINT Advanced  -  Day 3 / 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300" b="0" i="1">
                <a:solidFill>
                  <a:srgbClr val="1F2937"/>
                </a:solidFill>
                <a:latin typeface="Arial"/>
              </a:rPr>
              <a:t>End-of-course quiz to follow.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37360"/>
            <a:ext cx="8229600" cy="2662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Dark web is a source, not a mystery: access with OPSEC, it leaks at chokepoints.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Crypto is pseudonymous and permanent: cluster addresses, follow money to KYC.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Structure intelligence: STIX turns notes into a shareable, machine-readable graph.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Carry provenance, TLP and confidence natively; map Admiralty onto STIX.</a:t>
            </a:r>
          </a:p>
          <a:p>
            <a:pPr algn="l" marL="228600" indent="-228600">
              <a:lnSpc>
                <a:spcPct val="105000"/>
              </a:lnSpc>
              <a:spcAft>
                <a:spcPts val="600"/>
              </a:spcAft>
              <a:buClr>
                <a:srgbClr val="1E40AF"/>
              </a:buClr>
              <a:buFont typeface="Arial"/>
              <a:buChar char="•"/>
            </a:pPr>
            <a:r>
              <a:rPr sz="1100" b="0" i="0">
                <a:solidFill>
                  <a:srgbClr val="1F2937"/>
                </a:solidFill>
                <a:latin typeface="Arial"/>
              </a:rPr>
              <a:t>Automate with parallel/agentic pipelines feeding OpenCTI/MISP; judgement stays human.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34840"/>
            <a:ext cx="8229600" cy="4114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434840"/>
            <a:ext cx="73152" cy="41148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464840"/>
            <a:ext cx="7955280" cy="2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 wrap="square"/>
          <a:lstStyle/>
          <a:p>
            <a:pPr algn="l">
              <a:buNone/>
            </a:pPr>
            <a:r>
              <a:rPr sz="1000" b="1" i="0">
                <a:solidFill>
                  <a:srgbClr val="15803D"/>
                </a:solidFill>
                <a:latin typeface="Arial"/>
              </a:rPr>
              <a:t>FINAL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44840"/>
            <a:ext cx="7955280" cy="19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0" tIns="0" rIns="0" bIns="0" wrap="square"/>
          <a:lstStyle/>
          <a:p>
            <a:pPr algn="l">
              <a:buNone/>
            </a:pPr>
            <a:r>
              <a:rPr sz="1000" b="0" i="0">
                <a:solidFill>
                  <a:srgbClr val="1F2937"/>
                </a:solidFill>
                <a:latin typeface="Arial"/>
              </a:rPr>
              <a:t>Three days complete: sourcing, OPSEC &amp; corroborated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